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7" r:id="rId3"/>
    <p:sldId id="258" r:id="rId4"/>
    <p:sldId id="261" r:id="rId5"/>
    <p:sldId id="259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2" r:id="rId14"/>
    <p:sldId id="275" r:id="rId15"/>
    <p:sldId id="276" r:id="rId16"/>
    <p:sldId id="273" r:id="rId17"/>
    <p:sldId id="274" r:id="rId18"/>
    <p:sldId id="262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7078C-7BA6-1F42-B723-1A90044E2395}" v="652" dt="2025-05-05T04:05:51.3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30"/>
  </p:normalViewPr>
  <p:slideViewPr>
    <p:cSldViewPr snapToGrid="0">
      <p:cViewPr varScale="1">
        <p:scale>
          <a:sx n="113" d="100"/>
          <a:sy n="113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9B095F-67AF-448F-9D5A-2772C860BF1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CA77E0A-B375-4A72-AFA7-4364F5CFF512}">
      <dgm:prSet/>
      <dgm:spPr/>
      <dgm:t>
        <a:bodyPr/>
        <a:lstStyle/>
        <a:p>
          <a:r>
            <a:rPr lang="en-US"/>
            <a:t>Dataset: "Sentiment Analysis for Mental Health" (Kaggle)</a:t>
          </a:r>
        </a:p>
      </dgm:t>
    </dgm:pt>
    <dgm:pt modelId="{ABC33AFB-43FC-4A30-AB86-D94F8409F362}" type="parTrans" cxnId="{3850F7C8-9666-46FB-ACF9-499B0C06B192}">
      <dgm:prSet/>
      <dgm:spPr/>
      <dgm:t>
        <a:bodyPr/>
        <a:lstStyle/>
        <a:p>
          <a:endParaRPr lang="en-US"/>
        </a:p>
      </dgm:t>
    </dgm:pt>
    <dgm:pt modelId="{94311314-D794-4E2E-A3F5-5C43A5996477}" type="sibTrans" cxnId="{3850F7C8-9666-46FB-ACF9-499B0C06B192}">
      <dgm:prSet/>
      <dgm:spPr/>
      <dgm:t>
        <a:bodyPr/>
        <a:lstStyle/>
        <a:p>
          <a:endParaRPr lang="en-US"/>
        </a:p>
      </dgm:t>
    </dgm:pt>
    <dgm:pt modelId="{AA9114B0-8A65-41AD-80DD-92D3AFBE8019}">
      <dgm:prSet/>
      <dgm:spPr/>
      <dgm:t>
        <a:bodyPr/>
        <a:lstStyle/>
        <a:p>
          <a:r>
            <a:rPr lang="en-US"/>
            <a:t>Categories: Normal, Depression, Suicidal, Anxiety, Bipolar, Stress, Personality Disorder</a:t>
          </a:r>
        </a:p>
      </dgm:t>
    </dgm:pt>
    <dgm:pt modelId="{75F88B5B-5BD6-40F2-9AA7-9EA5AE9AF51B}" type="parTrans" cxnId="{188FA3A9-3DA2-4ECD-AB75-B35474F4E5A7}">
      <dgm:prSet/>
      <dgm:spPr/>
      <dgm:t>
        <a:bodyPr/>
        <a:lstStyle/>
        <a:p>
          <a:endParaRPr lang="en-US"/>
        </a:p>
      </dgm:t>
    </dgm:pt>
    <dgm:pt modelId="{FC741956-E202-4542-85C7-3CB89BEBE93D}" type="sibTrans" cxnId="{188FA3A9-3DA2-4ECD-AB75-B35474F4E5A7}">
      <dgm:prSet/>
      <dgm:spPr/>
      <dgm:t>
        <a:bodyPr/>
        <a:lstStyle/>
        <a:p>
          <a:endParaRPr lang="en-US"/>
        </a:p>
      </dgm:t>
    </dgm:pt>
    <dgm:pt modelId="{0E076B22-B91A-4C42-A43B-95EBA5AB6AC3}">
      <dgm:prSet/>
      <dgm:spPr/>
      <dgm:t>
        <a:bodyPr/>
        <a:lstStyle/>
        <a:p>
          <a:r>
            <a:rPr lang="en-US"/>
            <a:t>Objective: Predict mental health status from textual statements</a:t>
          </a:r>
        </a:p>
      </dgm:t>
    </dgm:pt>
    <dgm:pt modelId="{FD81A9C7-4AEE-4C19-BABC-6E8A734F0DCF}" type="parTrans" cxnId="{1262782A-E56B-4CA1-8337-236A7E28F452}">
      <dgm:prSet/>
      <dgm:spPr/>
      <dgm:t>
        <a:bodyPr/>
        <a:lstStyle/>
        <a:p>
          <a:endParaRPr lang="en-US"/>
        </a:p>
      </dgm:t>
    </dgm:pt>
    <dgm:pt modelId="{716D3E83-0B58-4F29-8409-894D0BF63E13}" type="sibTrans" cxnId="{1262782A-E56B-4CA1-8337-236A7E28F452}">
      <dgm:prSet/>
      <dgm:spPr/>
      <dgm:t>
        <a:bodyPr/>
        <a:lstStyle/>
        <a:p>
          <a:endParaRPr lang="en-US"/>
        </a:p>
      </dgm:t>
    </dgm:pt>
    <dgm:pt modelId="{EF80A5DC-E075-4FFA-9D7D-8E2325311825}" type="pres">
      <dgm:prSet presAssocID="{679B095F-67AF-448F-9D5A-2772C860BF1B}" presName="root" presStyleCnt="0">
        <dgm:presLayoutVars>
          <dgm:dir/>
          <dgm:resizeHandles val="exact"/>
        </dgm:presLayoutVars>
      </dgm:prSet>
      <dgm:spPr/>
    </dgm:pt>
    <dgm:pt modelId="{06847A12-3979-47F0-8EF4-789F4936CB68}" type="pres">
      <dgm:prSet presAssocID="{4CA77E0A-B375-4A72-AFA7-4364F5CFF512}" presName="compNode" presStyleCnt="0"/>
      <dgm:spPr/>
    </dgm:pt>
    <dgm:pt modelId="{13A01DBC-686D-4665-943E-D5063EB5CA8F}" type="pres">
      <dgm:prSet presAssocID="{4CA77E0A-B375-4A72-AFA7-4364F5CFF512}" presName="bgRect" presStyleLbl="bgShp" presStyleIdx="0" presStyleCnt="3"/>
      <dgm:spPr/>
    </dgm:pt>
    <dgm:pt modelId="{EBF33AAD-5BE9-4CBE-B828-BF25297B5E02}" type="pres">
      <dgm:prSet presAssocID="{4CA77E0A-B375-4A72-AFA7-4364F5CFF51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6610984B-7BF6-4373-ABD4-012F15E42A78}" type="pres">
      <dgm:prSet presAssocID="{4CA77E0A-B375-4A72-AFA7-4364F5CFF512}" presName="spaceRect" presStyleCnt="0"/>
      <dgm:spPr/>
    </dgm:pt>
    <dgm:pt modelId="{8E7E1EF5-D4FE-4F8E-B477-30DFBCB93951}" type="pres">
      <dgm:prSet presAssocID="{4CA77E0A-B375-4A72-AFA7-4364F5CFF512}" presName="parTx" presStyleLbl="revTx" presStyleIdx="0" presStyleCnt="3">
        <dgm:presLayoutVars>
          <dgm:chMax val="0"/>
          <dgm:chPref val="0"/>
        </dgm:presLayoutVars>
      </dgm:prSet>
      <dgm:spPr/>
    </dgm:pt>
    <dgm:pt modelId="{FC75071F-A517-4A93-8678-E1E5162E08D7}" type="pres">
      <dgm:prSet presAssocID="{94311314-D794-4E2E-A3F5-5C43A5996477}" presName="sibTrans" presStyleCnt="0"/>
      <dgm:spPr/>
    </dgm:pt>
    <dgm:pt modelId="{5F0CFC6D-B5B1-458A-85D5-8B7F03187693}" type="pres">
      <dgm:prSet presAssocID="{AA9114B0-8A65-41AD-80DD-92D3AFBE8019}" presName="compNode" presStyleCnt="0"/>
      <dgm:spPr/>
    </dgm:pt>
    <dgm:pt modelId="{EE64FC32-D503-432B-87D6-DDCCC044B236}" type="pres">
      <dgm:prSet presAssocID="{AA9114B0-8A65-41AD-80DD-92D3AFBE8019}" presName="bgRect" presStyleLbl="bgShp" presStyleIdx="1" presStyleCnt="3"/>
      <dgm:spPr/>
    </dgm:pt>
    <dgm:pt modelId="{D3D669BF-F2F2-4458-8E27-8763EB0382BC}" type="pres">
      <dgm:prSet presAssocID="{AA9114B0-8A65-41AD-80DD-92D3AFBE80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ying Face with No Fill"/>
        </a:ext>
      </dgm:extLst>
    </dgm:pt>
    <dgm:pt modelId="{93209DC7-3A5A-4A29-8EE5-19AFD96CD098}" type="pres">
      <dgm:prSet presAssocID="{AA9114B0-8A65-41AD-80DD-92D3AFBE8019}" presName="spaceRect" presStyleCnt="0"/>
      <dgm:spPr/>
    </dgm:pt>
    <dgm:pt modelId="{27BAE3CA-4543-4051-A812-8E598E0CDCB2}" type="pres">
      <dgm:prSet presAssocID="{AA9114B0-8A65-41AD-80DD-92D3AFBE8019}" presName="parTx" presStyleLbl="revTx" presStyleIdx="1" presStyleCnt="3">
        <dgm:presLayoutVars>
          <dgm:chMax val="0"/>
          <dgm:chPref val="0"/>
        </dgm:presLayoutVars>
      </dgm:prSet>
      <dgm:spPr/>
    </dgm:pt>
    <dgm:pt modelId="{0362B49C-BCC5-4993-A85D-8039F5CC14A2}" type="pres">
      <dgm:prSet presAssocID="{FC741956-E202-4542-85C7-3CB89BEBE93D}" presName="sibTrans" presStyleCnt="0"/>
      <dgm:spPr/>
    </dgm:pt>
    <dgm:pt modelId="{A9A16698-CD98-4B8C-A9B7-A41C021E58A8}" type="pres">
      <dgm:prSet presAssocID="{0E076B22-B91A-4C42-A43B-95EBA5AB6AC3}" presName="compNode" presStyleCnt="0"/>
      <dgm:spPr/>
    </dgm:pt>
    <dgm:pt modelId="{342D6529-539D-4BC8-B574-AA7056B718A7}" type="pres">
      <dgm:prSet presAssocID="{0E076B22-B91A-4C42-A43B-95EBA5AB6AC3}" presName="bgRect" presStyleLbl="bgShp" presStyleIdx="2" presStyleCnt="3"/>
      <dgm:spPr/>
    </dgm:pt>
    <dgm:pt modelId="{AB2AE664-13CD-452B-8E29-310A7700CD87}" type="pres">
      <dgm:prSet presAssocID="{0E076B22-B91A-4C42-A43B-95EBA5AB6AC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1D035D8-7F86-4A48-8195-03A98CAA9940}" type="pres">
      <dgm:prSet presAssocID="{0E076B22-B91A-4C42-A43B-95EBA5AB6AC3}" presName="spaceRect" presStyleCnt="0"/>
      <dgm:spPr/>
    </dgm:pt>
    <dgm:pt modelId="{C3630644-8120-4472-BB8E-C093B994AF19}" type="pres">
      <dgm:prSet presAssocID="{0E076B22-B91A-4C42-A43B-95EBA5AB6AC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1651A20-4713-484D-93B9-AE11A7CC71AF}" type="presOf" srcId="{679B095F-67AF-448F-9D5A-2772C860BF1B}" destId="{EF80A5DC-E075-4FFA-9D7D-8E2325311825}" srcOrd="0" destOrd="0" presId="urn:microsoft.com/office/officeart/2018/2/layout/IconVerticalSolidList"/>
    <dgm:cxn modelId="{1262782A-E56B-4CA1-8337-236A7E28F452}" srcId="{679B095F-67AF-448F-9D5A-2772C860BF1B}" destId="{0E076B22-B91A-4C42-A43B-95EBA5AB6AC3}" srcOrd="2" destOrd="0" parTransId="{FD81A9C7-4AEE-4C19-BABC-6E8A734F0DCF}" sibTransId="{716D3E83-0B58-4F29-8409-894D0BF63E13}"/>
    <dgm:cxn modelId="{2CC0FA32-FA5D-4AA6-8BD6-A11CEA0AF6D1}" type="presOf" srcId="{4CA77E0A-B375-4A72-AFA7-4364F5CFF512}" destId="{8E7E1EF5-D4FE-4F8E-B477-30DFBCB93951}" srcOrd="0" destOrd="0" presId="urn:microsoft.com/office/officeart/2018/2/layout/IconVerticalSolidList"/>
    <dgm:cxn modelId="{14AC1F6E-37C8-4AD2-89A5-322324943789}" type="presOf" srcId="{0E076B22-B91A-4C42-A43B-95EBA5AB6AC3}" destId="{C3630644-8120-4472-BB8E-C093B994AF19}" srcOrd="0" destOrd="0" presId="urn:microsoft.com/office/officeart/2018/2/layout/IconVerticalSolidList"/>
    <dgm:cxn modelId="{63A60984-2DC9-443B-8BFA-D7327EB6C416}" type="presOf" srcId="{AA9114B0-8A65-41AD-80DD-92D3AFBE8019}" destId="{27BAE3CA-4543-4051-A812-8E598E0CDCB2}" srcOrd="0" destOrd="0" presId="urn:microsoft.com/office/officeart/2018/2/layout/IconVerticalSolidList"/>
    <dgm:cxn modelId="{188FA3A9-3DA2-4ECD-AB75-B35474F4E5A7}" srcId="{679B095F-67AF-448F-9D5A-2772C860BF1B}" destId="{AA9114B0-8A65-41AD-80DD-92D3AFBE8019}" srcOrd="1" destOrd="0" parTransId="{75F88B5B-5BD6-40F2-9AA7-9EA5AE9AF51B}" sibTransId="{FC741956-E202-4542-85C7-3CB89BEBE93D}"/>
    <dgm:cxn modelId="{3850F7C8-9666-46FB-ACF9-499B0C06B192}" srcId="{679B095F-67AF-448F-9D5A-2772C860BF1B}" destId="{4CA77E0A-B375-4A72-AFA7-4364F5CFF512}" srcOrd="0" destOrd="0" parTransId="{ABC33AFB-43FC-4A30-AB86-D94F8409F362}" sibTransId="{94311314-D794-4E2E-A3F5-5C43A5996477}"/>
    <dgm:cxn modelId="{326D54A3-E99D-42E9-AA1D-40EC4D30C75C}" type="presParOf" srcId="{EF80A5DC-E075-4FFA-9D7D-8E2325311825}" destId="{06847A12-3979-47F0-8EF4-789F4936CB68}" srcOrd="0" destOrd="0" presId="urn:microsoft.com/office/officeart/2018/2/layout/IconVerticalSolidList"/>
    <dgm:cxn modelId="{40471A17-E0E9-47C2-9E50-D288F51B9190}" type="presParOf" srcId="{06847A12-3979-47F0-8EF4-789F4936CB68}" destId="{13A01DBC-686D-4665-943E-D5063EB5CA8F}" srcOrd="0" destOrd="0" presId="urn:microsoft.com/office/officeart/2018/2/layout/IconVerticalSolidList"/>
    <dgm:cxn modelId="{89C9FFAE-3C70-46D0-8E69-200751EFF8DB}" type="presParOf" srcId="{06847A12-3979-47F0-8EF4-789F4936CB68}" destId="{EBF33AAD-5BE9-4CBE-B828-BF25297B5E02}" srcOrd="1" destOrd="0" presId="urn:microsoft.com/office/officeart/2018/2/layout/IconVerticalSolidList"/>
    <dgm:cxn modelId="{D8AC0C9C-1A7B-4124-994C-DEFAA0984CF9}" type="presParOf" srcId="{06847A12-3979-47F0-8EF4-789F4936CB68}" destId="{6610984B-7BF6-4373-ABD4-012F15E42A78}" srcOrd="2" destOrd="0" presId="urn:microsoft.com/office/officeart/2018/2/layout/IconVerticalSolidList"/>
    <dgm:cxn modelId="{B4C9BC5C-2E2E-489C-B34E-CF4F9C1A6954}" type="presParOf" srcId="{06847A12-3979-47F0-8EF4-789F4936CB68}" destId="{8E7E1EF5-D4FE-4F8E-B477-30DFBCB93951}" srcOrd="3" destOrd="0" presId="urn:microsoft.com/office/officeart/2018/2/layout/IconVerticalSolidList"/>
    <dgm:cxn modelId="{24B91494-E8AC-494A-8895-8A14DFA9A847}" type="presParOf" srcId="{EF80A5DC-E075-4FFA-9D7D-8E2325311825}" destId="{FC75071F-A517-4A93-8678-E1E5162E08D7}" srcOrd="1" destOrd="0" presId="urn:microsoft.com/office/officeart/2018/2/layout/IconVerticalSolidList"/>
    <dgm:cxn modelId="{3294651F-7439-4E2E-980F-980D5BAC5B19}" type="presParOf" srcId="{EF80A5DC-E075-4FFA-9D7D-8E2325311825}" destId="{5F0CFC6D-B5B1-458A-85D5-8B7F03187693}" srcOrd="2" destOrd="0" presId="urn:microsoft.com/office/officeart/2018/2/layout/IconVerticalSolidList"/>
    <dgm:cxn modelId="{5722F2FD-7D07-47D9-8BC2-FC071FAF1209}" type="presParOf" srcId="{5F0CFC6D-B5B1-458A-85D5-8B7F03187693}" destId="{EE64FC32-D503-432B-87D6-DDCCC044B236}" srcOrd="0" destOrd="0" presId="urn:microsoft.com/office/officeart/2018/2/layout/IconVerticalSolidList"/>
    <dgm:cxn modelId="{CC93B200-2689-4B5D-A738-474B06B86181}" type="presParOf" srcId="{5F0CFC6D-B5B1-458A-85D5-8B7F03187693}" destId="{D3D669BF-F2F2-4458-8E27-8763EB0382BC}" srcOrd="1" destOrd="0" presId="urn:microsoft.com/office/officeart/2018/2/layout/IconVerticalSolidList"/>
    <dgm:cxn modelId="{065B5352-17A8-4C41-8E4D-BD9D1404F236}" type="presParOf" srcId="{5F0CFC6D-B5B1-458A-85D5-8B7F03187693}" destId="{93209DC7-3A5A-4A29-8EE5-19AFD96CD098}" srcOrd="2" destOrd="0" presId="urn:microsoft.com/office/officeart/2018/2/layout/IconVerticalSolidList"/>
    <dgm:cxn modelId="{D3B6E7E0-6A8D-417E-BB7A-9AFE48CEE9B4}" type="presParOf" srcId="{5F0CFC6D-B5B1-458A-85D5-8B7F03187693}" destId="{27BAE3CA-4543-4051-A812-8E598E0CDCB2}" srcOrd="3" destOrd="0" presId="urn:microsoft.com/office/officeart/2018/2/layout/IconVerticalSolidList"/>
    <dgm:cxn modelId="{C0AD856A-D4E0-4633-A34D-494A26CD5FF1}" type="presParOf" srcId="{EF80A5DC-E075-4FFA-9D7D-8E2325311825}" destId="{0362B49C-BCC5-4993-A85D-8039F5CC14A2}" srcOrd="3" destOrd="0" presId="urn:microsoft.com/office/officeart/2018/2/layout/IconVerticalSolidList"/>
    <dgm:cxn modelId="{95E00891-CF5C-4FE1-B96A-2F3E78FB7788}" type="presParOf" srcId="{EF80A5DC-E075-4FFA-9D7D-8E2325311825}" destId="{A9A16698-CD98-4B8C-A9B7-A41C021E58A8}" srcOrd="4" destOrd="0" presId="urn:microsoft.com/office/officeart/2018/2/layout/IconVerticalSolidList"/>
    <dgm:cxn modelId="{648FC67F-08A6-4EA2-A01F-E0C928D79048}" type="presParOf" srcId="{A9A16698-CD98-4B8C-A9B7-A41C021E58A8}" destId="{342D6529-539D-4BC8-B574-AA7056B718A7}" srcOrd="0" destOrd="0" presId="urn:microsoft.com/office/officeart/2018/2/layout/IconVerticalSolidList"/>
    <dgm:cxn modelId="{B1AB7879-32E4-4C49-82C5-CE6B71CAA7FE}" type="presParOf" srcId="{A9A16698-CD98-4B8C-A9B7-A41C021E58A8}" destId="{AB2AE664-13CD-452B-8E29-310A7700CD87}" srcOrd="1" destOrd="0" presId="urn:microsoft.com/office/officeart/2018/2/layout/IconVerticalSolidList"/>
    <dgm:cxn modelId="{133793CA-1A32-44EA-AD5F-2983E637A357}" type="presParOf" srcId="{A9A16698-CD98-4B8C-A9B7-A41C021E58A8}" destId="{C1D035D8-7F86-4A48-8195-03A98CAA9940}" srcOrd="2" destOrd="0" presId="urn:microsoft.com/office/officeart/2018/2/layout/IconVerticalSolidList"/>
    <dgm:cxn modelId="{FA01917E-18AA-442A-924B-8EA6C61F34E8}" type="presParOf" srcId="{A9A16698-CD98-4B8C-A9B7-A41C021E58A8}" destId="{C3630644-8120-4472-BB8E-C093B994AF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697797-BEB7-4C23-9C0C-A156DEB615D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93DFAE-6316-45AF-859E-DB823E0BDDC4}">
      <dgm:prSet/>
      <dgm:spPr>
        <a:solidFill>
          <a:schemeClr val="accent4"/>
        </a:solidFill>
      </dgm:spPr>
      <dgm:t>
        <a:bodyPr/>
        <a:lstStyle/>
        <a:p>
          <a:r>
            <a:rPr lang="en-US" b="1"/>
            <a:t>Workflow:</a:t>
          </a:r>
          <a:endParaRPr lang="en-US"/>
        </a:p>
      </dgm:t>
    </dgm:pt>
    <dgm:pt modelId="{C2307E29-9C2F-4895-AEC3-1D03485D5A00}" type="parTrans" cxnId="{73C72F07-F6E2-4E4A-8A68-D57941F6947F}">
      <dgm:prSet/>
      <dgm:spPr/>
      <dgm:t>
        <a:bodyPr/>
        <a:lstStyle/>
        <a:p>
          <a:endParaRPr lang="en-US"/>
        </a:p>
      </dgm:t>
    </dgm:pt>
    <dgm:pt modelId="{A58FDA5E-3A09-4784-B3ED-8A4BCF9C9B23}" type="sibTrans" cxnId="{73C72F07-F6E2-4E4A-8A68-D57941F6947F}">
      <dgm:prSet/>
      <dgm:spPr/>
      <dgm:t>
        <a:bodyPr/>
        <a:lstStyle/>
        <a:p>
          <a:endParaRPr lang="en-US"/>
        </a:p>
      </dgm:t>
    </dgm:pt>
    <dgm:pt modelId="{D5E14BEF-F10E-4A1D-BC77-61F56501DFB4}">
      <dgm:prSet/>
      <dgm:spPr>
        <a:solidFill>
          <a:schemeClr val="accent4"/>
        </a:solidFill>
      </dgm:spPr>
      <dgm:t>
        <a:bodyPr spcFirstLastPara="0" vert="horz" wrap="square" lIns="103432" tIns="108570" rIns="103432" bIns="108570" numCol="1" spcCol="1270" anchor="ctr" anchorCtr="0"/>
        <a:lstStyle/>
        <a:p>
          <a:r>
            <a:rPr lang="en-US" b="1"/>
            <a:t>Load Pre‑trained Tokenizer</a:t>
          </a:r>
          <a:br>
            <a:rPr lang="en-US"/>
          </a:br>
          <a:r>
            <a:rPr lang="en-US"/>
            <a:t>– Maps raw sentences into BERT’s subword vocabulary.</a:t>
          </a:r>
        </a:p>
      </dgm:t>
    </dgm:pt>
    <dgm:pt modelId="{0A9E1DED-6A7E-4616-B038-157016578608}" type="parTrans" cxnId="{F8BDDE15-320B-4296-B744-775FC931321A}">
      <dgm:prSet/>
      <dgm:spPr/>
      <dgm:t>
        <a:bodyPr/>
        <a:lstStyle/>
        <a:p>
          <a:endParaRPr lang="en-US"/>
        </a:p>
      </dgm:t>
    </dgm:pt>
    <dgm:pt modelId="{D6AFB629-A8D1-4C20-838D-EA1BA4CCC081}" type="sibTrans" cxnId="{F8BDDE15-320B-4296-B744-775FC931321A}">
      <dgm:prSet/>
      <dgm:spPr/>
      <dgm:t>
        <a:bodyPr/>
        <a:lstStyle/>
        <a:p>
          <a:endParaRPr lang="en-US"/>
        </a:p>
      </dgm:t>
    </dgm:pt>
    <dgm:pt modelId="{D9B2C264-1502-4FB5-A58B-50D845BA92CC}">
      <dgm:prSet/>
      <dgm:spPr>
        <a:solidFill>
          <a:schemeClr val="accent4"/>
        </a:solidFill>
      </dgm:spPr>
      <dgm:t>
        <a:bodyPr spcFirstLastPara="0" vert="horz" wrap="square" lIns="103432" tIns="108570" rIns="103432" bIns="108570" numCol="1" spcCol="1270" anchor="ctr" anchorCtr="0"/>
        <a:lstStyle/>
        <a:p>
          <a:r>
            <a:rPr lang="en-US" b="1" kern="1200" dirty="0"/>
            <a:t>Custom Dataset Class</a:t>
          </a:r>
          <a:br>
            <a:rPr lang="en-US" kern="1200" dirty="0"/>
          </a:br>
          <a:r>
            <a:rPr lang="en-US" kern="1200" dirty="0"/>
            <a:t>– Wraps text &amp; label lists</a:t>
          </a:r>
          <a:br>
            <a:rPr lang="en-US" kern="1200" dirty="0"/>
          </a:br>
          <a:r>
            <a:rPr lang="en-US" kern="1200" dirty="0"/>
            <a:t>– On access:</a:t>
          </a:r>
          <a:br>
            <a:rPr lang="en-US" kern="1200" dirty="0"/>
          </a:br>
          <a:r>
            <a:rPr lang="en-US" kern="1200" dirty="0"/>
            <a:t>• Converts </a:t>
          </a:r>
          <a:r>
            <a:rPr lang="en-US" b="1" kern="1200" dirty="0">
              <a:latin typeface="Avenir Next LT Pro"/>
              <a:ea typeface="+mn-ea"/>
              <a:cs typeface="+mn-cs"/>
            </a:rPr>
            <a:t>sentence</a:t>
          </a:r>
          <a:r>
            <a:rPr lang="en-US" kern="1200" dirty="0"/>
            <a:t> → token IDs + attention mask</a:t>
          </a:r>
          <a:br>
            <a:rPr lang="en-US" kern="1200" dirty="0"/>
          </a:br>
          <a:r>
            <a:rPr lang="en-US" kern="1200" dirty="0"/>
            <a:t>• Pads or </a:t>
          </a:r>
          <a:r>
            <a:rPr lang="en-US" b="1" kern="1200" dirty="0">
              <a:latin typeface="Avenir Next LT Pro"/>
              <a:ea typeface="+mn-ea"/>
              <a:cs typeface="+mn-cs"/>
            </a:rPr>
            <a:t>truncates</a:t>
          </a:r>
          <a:r>
            <a:rPr lang="en-US" kern="1200" dirty="0"/>
            <a:t> to fixed length</a:t>
          </a:r>
          <a:br>
            <a:rPr lang="en-US" kern="1200" dirty="0"/>
          </a:br>
          <a:r>
            <a:rPr lang="en-US" kern="1200" dirty="0"/>
            <a:t>• Returns tensors for model input</a:t>
          </a:r>
        </a:p>
      </dgm:t>
    </dgm:pt>
    <dgm:pt modelId="{EA24E600-35F5-412A-A2E7-9B24F1959D79}" type="parTrans" cxnId="{E8FDD880-EA42-4AAE-A133-2DAD4619AE08}">
      <dgm:prSet/>
      <dgm:spPr/>
      <dgm:t>
        <a:bodyPr/>
        <a:lstStyle/>
        <a:p>
          <a:endParaRPr lang="en-US"/>
        </a:p>
      </dgm:t>
    </dgm:pt>
    <dgm:pt modelId="{2145965E-208D-407C-9429-78D179F068C8}" type="sibTrans" cxnId="{E8FDD880-EA42-4AAE-A133-2DAD4619AE08}">
      <dgm:prSet/>
      <dgm:spPr/>
      <dgm:t>
        <a:bodyPr/>
        <a:lstStyle/>
        <a:p>
          <a:endParaRPr lang="en-US"/>
        </a:p>
      </dgm:t>
    </dgm:pt>
    <dgm:pt modelId="{E41F6B7E-62FD-432C-B6C7-AE1B5F7B6C10}">
      <dgm:prSet/>
      <dgm:spPr>
        <a:solidFill>
          <a:schemeClr val="accent4"/>
        </a:solidFill>
      </dgm:spPr>
      <dgm:t>
        <a:bodyPr/>
        <a:lstStyle/>
        <a:p>
          <a:r>
            <a:rPr lang="en-US" b="1" dirty="0"/>
            <a:t>Instantiate Dataset</a:t>
          </a:r>
          <a:br>
            <a:rPr lang="en-US" dirty="0"/>
          </a:br>
          <a:r>
            <a:rPr lang="en-US" dirty="0"/>
            <a:t>– Feed DataFrame’s “statement” and “status” columns into the custom class</a:t>
          </a:r>
        </a:p>
      </dgm:t>
    </dgm:pt>
    <dgm:pt modelId="{35A5675D-7E15-4875-96A2-167C6A2E4FB0}" type="parTrans" cxnId="{5945B55D-FF28-471C-A022-259CA4E34815}">
      <dgm:prSet/>
      <dgm:spPr/>
      <dgm:t>
        <a:bodyPr/>
        <a:lstStyle/>
        <a:p>
          <a:endParaRPr lang="en-US"/>
        </a:p>
      </dgm:t>
    </dgm:pt>
    <dgm:pt modelId="{78EC6804-4509-4D99-A698-4DE382946E0C}" type="sibTrans" cxnId="{5945B55D-FF28-471C-A022-259CA4E34815}">
      <dgm:prSet/>
      <dgm:spPr/>
      <dgm:t>
        <a:bodyPr/>
        <a:lstStyle/>
        <a:p>
          <a:endParaRPr lang="en-US"/>
        </a:p>
      </dgm:t>
    </dgm:pt>
    <dgm:pt modelId="{8632C320-8ACF-47BB-95D2-FFE153E72B3D}">
      <dgm:prSet/>
      <dgm:spPr>
        <a:solidFill>
          <a:schemeClr val="accent4"/>
        </a:solidFill>
      </dgm:spPr>
      <dgm:t>
        <a:bodyPr spcFirstLastPara="0" vert="horz" wrap="square" lIns="103432" tIns="108570" rIns="103432" bIns="108570" numCol="1" spcCol="1270" anchor="ctr" anchorCtr="0"/>
        <a:lstStyle/>
        <a:p>
          <a:pPr marL="0" lvl="0" indent="0" defTabSz="533400">
            <a:spcBef>
              <a:spcPct val="0"/>
            </a:spcBef>
            <a:spcAft>
              <a:spcPct val="35000"/>
            </a:spcAft>
            <a:buNone/>
          </a:pPr>
          <a:r>
            <a:rPr lang="en-US" b="1" kern="1200" dirty="0">
              <a:latin typeface="Avenir Next LT Pro"/>
              <a:ea typeface="+mn-ea"/>
              <a:cs typeface="+mn-cs"/>
            </a:rPr>
            <a:t>Create DataLoader</a:t>
          </a:r>
          <a:br>
            <a:rPr lang="en-US" b="1" kern="1200" dirty="0">
              <a:latin typeface="Avenir Next LT Pro"/>
              <a:ea typeface="+mn-ea"/>
              <a:cs typeface="+mn-cs"/>
            </a:rPr>
          </a:br>
          <a:r>
            <a:rPr lang="en-US" b="1" kern="1200" dirty="0">
              <a:latin typeface="Avenir Next LT Pro"/>
              <a:ea typeface="+mn-ea"/>
              <a:cs typeface="+mn-cs"/>
            </a:rPr>
            <a:t>– </a:t>
          </a:r>
          <a:r>
            <a:rPr lang="en-US" b="0" kern="1200" dirty="0">
              <a:latin typeface="Avenir Next LT Pro"/>
              <a:ea typeface="+mn-ea"/>
              <a:cs typeface="+mn-cs"/>
            </a:rPr>
            <a:t>Batches examples (size 32)</a:t>
          </a:r>
          <a:br>
            <a:rPr lang="en-US" b="0" kern="1200" dirty="0">
              <a:latin typeface="Avenir Next LT Pro"/>
              <a:ea typeface="+mn-ea"/>
              <a:cs typeface="+mn-cs"/>
            </a:rPr>
          </a:br>
          <a:r>
            <a:rPr lang="en-US" b="0" kern="1200" dirty="0">
              <a:latin typeface="Avenir Next LT Pro"/>
              <a:ea typeface="+mn-ea"/>
              <a:cs typeface="+mn-cs"/>
            </a:rPr>
            <a:t>– Shuffles each epoch for robust training</a:t>
          </a:r>
        </a:p>
      </dgm:t>
    </dgm:pt>
    <dgm:pt modelId="{F3A1D5A1-4171-4CC8-BBCD-8D00E29AA690}" type="parTrans" cxnId="{2BDD3FF7-7E24-4FBA-A71E-C2BE402AB572}">
      <dgm:prSet/>
      <dgm:spPr/>
      <dgm:t>
        <a:bodyPr/>
        <a:lstStyle/>
        <a:p>
          <a:endParaRPr lang="en-US"/>
        </a:p>
      </dgm:t>
    </dgm:pt>
    <dgm:pt modelId="{CD3FD311-EF0C-42FA-B133-09141DFE0ACE}" type="sibTrans" cxnId="{2BDD3FF7-7E24-4FBA-A71E-C2BE402AB572}">
      <dgm:prSet/>
      <dgm:spPr/>
      <dgm:t>
        <a:bodyPr/>
        <a:lstStyle/>
        <a:p>
          <a:endParaRPr lang="en-US"/>
        </a:p>
      </dgm:t>
    </dgm:pt>
    <dgm:pt modelId="{C160198A-9914-4FA5-9E6E-ADC15D660182}">
      <dgm:prSet/>
      <dgm:spPr>
        <a:solidFill>
          <a:schemeClr val="accent4"/>
        </a:solidFill>
      </dgm:spPr>
      <dgm:t>
        <a:bodyPr spcFirstLastPara="0" vert="horz" wrap="square" lIns="103432" tIns="108570" rIns="103432" bIns="108570" numCol="1" spcCol="1270" anchor="ctr" anchorCtr="0"/>
        <a:lstStyle/>
        <a:p>
          <a:r>
            <a:rPr lang="en-US" b="1" kern="1200" dirty="0"/>
            <a:t>Batch </a:t>
          </a:r>
          <a:r>
            <a:rPr lang="en-US" b="1" kern="1200" dirty="0">
              <a:latin typeface="Avenir Next LT Pro"/>
              <a:ea typeface="+mn-ea"/>
              <a:cs typeface="+mn-cs"/>
            </a:rPr>
            <a:t>Inspection</a:t>
          </a:r>
          <a:br>
            <a:rPr lang="en-US" kern="1200" dirty="0"/>
          </a:br>
          <a:r>
            <a:rPr lang="en-US" kern="1200" dirty="0"/>
            <a:t>– Pull one mini‑batch to confirm:</a:t>
          </a:r>
          <a:br>
            <a:rPr lang="en-US" kern="1200" dirty="0"/>
          </a:br>
          <a:r>
            <a:rPr lang="en-US" kern="1200" dirty="0"/>
            <a:t>• input_ids, </a:t>
          </a:r>
          <a:r>
            <a:rPr lang="en-US" kern="1200" dirty="0" err="1"/>
            <a:t>attention_mask</a:t>
          </a:r>
          <a:r>
            <a:rPr lang="en-US" kern="1200" dirty="0"/>
            <a:t>, labels all as tensors</a:t>
          </a:r>
        </a:p>
      </dgm:t>
    </dgm:pt>
    <dgm:pt modelId="{639C6134-1571-4901-A2D8-7534C687CBCE}" type="parTrans" cxnId="{DC2E77B3-F52C-4A77-B4E1-A27C19275699}">
      <dgm:prSet/>
      <dgm:spPr/>
      <dgm:t>
        <a:bodyPr/>
        <a:lstStyle/>
        <a:p>
          <a:endParaRPr lang="en-US"/>
        </a:p>
      </dgm:t>
    </dgm:pt>
    <dgm:pt modelId="{3A419D14-4106-40F2-9003-67A4DB9E0451}" type="sibTrans" cxnId="{DC2E77B3-F52C-4A77-B4E1-A27C19275699}">
      <dgm:prSet/>
      <dgm:spPr/>
      <dgm:t>
        <a:bodyPr/>
        <a:lstStyle/>
        <a:p>
          <a:endParaRPr lang="en-US"/>
        </a:p>
      </dgm:t>
    </dgm:pt>
    <dgm:pt modelId="{70EA2941-7AF0-984A-91D6-59243109FF81}" type="pres">
      <dgm:prSet presAssocID="{E2697797-BEB7-4C23-9C0C-A156DEB615DC}" presName="Name0" presStyleCnt="0">
        <dgm:presLayoutVars>
          <dgm:dir/>
          <dgm:resizeHandles val="exact"/>
        </dgm:presLayoutVars>
      </dgm:prSet>
      <dgm:spPr/>
    </dgm:pt>
    <dgm:pt modelId="{FA7A9FD9-70C6-3F4D-9C34-4507E94A1700}" type="pres">
      <dgm:prSet presAssocID="{B493DFAE-6316-45AF-859E-DB823E0BDDC4}" presName="node" presStyleLbl="node1" presStyleIdx="0" presStyleCnt="6">
        <dgm:presLayoutVars>
          <dgm:bulletEnabled val="1"/>
        </dgm:presLayoutVars>
      </dgm:prSet>
      <dgm:spPr/>
    </dgm:pt>
    <dgm:pt modelId="{C9642D89-BB90-8B46-8751-085734E22A07}" type="pres">
      <dgm:prSet presAssocID="{A58FDA5E-3A09-4784-B3ED-8A4BCF9C9B23}" presName="sibTrans" presStyleLbl="sibTrans1D1" presStyleIdx="0" presStyleCnt="5"/>
      <dgm:spPr/>
    </dgm:pt>
    <dgm:pt modelId="{6E4ED0AD-7138-0C4E-B689-262E5EB7A5A7}" type="pres">
      <dgm:prSet presAssocID="{A58FDA5E-3A09-4784-B3ED-8A4BCF9C9B23}" presName="connectorText" presStyleLbl="sibTrans1D1" presStyleIdx="0" presStyleCnt="5"/>
      <dgm:spPr/>
    </dgm:pt>
    <dgm:pt modelId="{7E8BD419-32F3-5E45-B567-BA26D7F07357}" type="pres">
      <dgm:prSet presAssocID="{D5E14BEF-F10E-4A1D-BC77-61F56501DFB4}" presName="node" presStyleLbl="node1" presStyleIdx="1" presStyleCnt="6">
        <dgm:presLayoutVars>
          <dgm:bulletEnabled val="1"/>
        </dgm:presLayoutVars>
      </dgm:prSet>
      <dgm:spPr/>
    </dgm:pt>
    <dgm:pt modelId="{0DDB1A2D-E0EC-D145-BF30-62B34E87A5B2}" type="pres">
      <dgm:prSet presAssocID="{D6AFB629-A8D1-4C20-838D-EA1BA4CCC081}" presName="sibTrans" presStyleLbl="sibTrans1D1" presStyleIdx="1" presStyleCnt="5"/>
      <dgm:spPr/>
    </dgm:pt>
    <dgm:pt modelId="{A7E78E93-78DF-194E-AE89-352BC53D75E0}" type="pres">
      <dgm:prSet presAssocID="{D6AFB629-A8D1-4C20-838D-EA1BA4CCC081}" presName="connectorText" presStyleLbl="sibTrans1D1" presStyleIdx="1" presStyleCnt="5"/>
      <dgm:spPr/>
    </dgm:pt>
    <dgm:pt modelId="{0329C3B4-05DC-6043-AC52-47BE6B868732}" type="pres">
      <dgm:prSet presAssocID="{D9B2C264-1502-4FB5-A58B-50D845BA92CC}" presName="node" presStyleLbl="node1" presStyleIdx="2" presStyleCnt="6" custScaleX="99943" custScaleY="102915">
        <dgm:presLayoutVars>
          <dgm:bulletEnabled val="1"/>
        </dgm:presLayoutVars>
      </dgm:prSet>
      <dgm:spPr/>
    </dgm:pt>
    <dgm:pt modelId="{9D2C27F8-49E6-9348-BD6E-F77722D37250}" type="pres">
      <dgm:prSet presAssocID="{2145965E-208D-407C-9429-78D179F068C8}" presName="sibTrans" presStyleLbl="sibTrans1D1" presStyleIdx="2" presStyleCnt="5"/>
      <dgm:spPr/>
    </dgm:pt>
    <dgm:pt modelId="{6579DDEC-FCDA-9241-BDE2-E882C679CF0F}" type="pres">
      <dgm:prSet presAssocID="{2145965E-208D-407C-9429-78D179F068C8}" presName="connectorText" presStyleLbl="sibTrans1D1" presStyleIdx="2" presStyleCnt="5"/>
      <dgm:spPr/>
    </dgm:pt>
    <dgm:pt modelId="{9D92CC52-9549-C74C-AC14-6287F6BFAEFB}" type="pres">
      <dgm:prSet presAssocID="{E41F6B7E-62FD-432C-B6C7-AE1B5F7B6C10}" presName="node" presStyleLbl="node1" presStyleIdx="3" presStyleCnt="6">
        <dgm:presLayoutVars>
          <dgm:bulletEnabled val="1"/>
        </dgm:presLayoutVars>
      </dgm:prSet>
      <dgm:spPr/>
    </dgm:pt>
    <dgm:pt modelId="{017BDE01-662D-6E4C-A262-AAFC6AC8C413}" type="pres">
      <dgm:prSet presAssocID="{78EC6804-4509-4D99-A698-4DE382946E0C}" presName="sibTrans" presStyleLbl="sibTrans1D1" presStyleIdx="3" presStyleCnt="5"/>
      <dgm:spPr/>
    </dgm:pt>
    <dgm:pt modelId="{FCC3474D-7E98-A942-8E70-06FCAE3365E4}" type="pres">
      <dgm:prSet presAssocID="{78EC6804-4509-4D99-A698-4DE382946E0C}" presName="connectorText" presStyleLbl="sibTrans1D1" presStyleIdx="3" presStyleCnt="5"/>
      <dgm:spPr/>
    </dgm:pt>
    <dgm:pt modelId="{42A07B57-118E-9145-AB3E-302EB9A52BE3}" type="pres">
      <dgm:prSet presAssocID="{8632C320-8ACF-47BB-95D2-FFE153E72B3D}" presName="node" presStyleLbl="node1" presStyleIdx="4" presStyleCnt="6">
        <dgm:presLayoutVars>
          <dgm:bulletEnabled val="1"/>
        </dgm:presLayoutVars>
      </dgm:prSet>
      <dgm:spPr/>
    </dgm:pt>
    <dgm:pt modelId="{A501D212-B4EC-F147-903C-40C795877EBE}" type="pres">
      <dgm:prSet presAssocID="{CD3FD311-EF0C-42FA-B133-09141DFE0ACE}" presName="sibTrans" presStyleLbl="sibTrans1D1" presStyleIdx="4" presStyleCnt="5"/>
      <dgm:spPr/>
    </dgm:pt>
    <dgm:pt modelId="{171D30FC-B1F6-EF40-B8AA-0E11EAADFD2D}" type="pres">
      <dgm:prSet presAssocID="{CD3FD311-EF0C-42FA-B133-09141DFE0ACE}" presName="connectorText" presStyleLbl="sibTrans1D1" presStyleIdx="4" presStyleCnt="5"/>
      <dgm:spPr/>
    </dgm:pt>
    <dgm:pt modelId="{797C8C83-F098-474D-979D-6A6816991972}" type="pres">
      <dgm:prSet presAssocID="{C160198A-9914-4FA5-9E6E-ADC15D660182}" presName="node" presStyleLbl="node1" presStyleIdx="5" presStyleCnt="6">
        <dgm:presLayoutVars>
          <dgm:bulletEnabled val="1"/>
        </dgm:presLayoutVars>
      </dgm:prSet>
      <dgm:spPr/>
    </dgm:pt>
  </dgm:ptLst>
  <dgm:cxnLst>
    <dgm:cxn modelId="{73C72F07-F6E2-4E4A-8A68-D57941F6947F}" srcId="{E2697797-BEB7-4C23-9C0C-A156DEB615DC}" destId="{B493DFAE-6316-45AF-859E-DB823E0BDDC4}" srcOrd="0" destOrd="0" parTransId="{C2307E29-9C2F-4895-AEC3-1D03485D5A00}" sibTransId="{A58FDA5E-3A09-4784-B3ED-8A4BCF9C9B23}"/>
    <dgm:cxn modelId="{F8BDDE15-320B-4296-B744-775FC931321A}" srcId="{E2697797-BEB7-4C23-9C0C-A156DEB615DC}" destId="{D5E14BEF-F10E-4A1D-BC77-61F56501DFB4}" srcOrd="1" destOrd="0" parTransId="{0A9E1DED-6A7E-4616-B038-157016578608}" sibTransId="{D6AFB629-A8D1-4C20-838D-EA1BA4CCC081}"/>
    <dgm:cxn modelId="{71FFE721-EA93-744A-A2CC-AA323FF95CC1}" type="presOf" srcId="{D9B2C264-1502-4FB5-A58B-50D845BA92CC}" destId="{0329C3B4-05DC-6043-AC52-47BE6B868732}" srcOrd="0" destOrd="0" presId="urn:microsoft.com/office/officeart/2016/7/layout/RepeatingBendingProcessNew"/>
    <dgm:cxn modelId="{A510E145-EA27-0A45-B904-67F7091452AF}" type="presOf" srcId="{D5E14BEF-F10E-4A1D-BC77-61F56501DFB4}" destId="{7E8BD419-32F3-5E45-B567-BA26D7F07357}" srcOrd="0" destOrd="0" presId="urn:microsoft.com/office/officeart/2016/7/layout/RepeatingBendingProcessNew"/>
    <dgm:cxn modelId="{470A8446-E26E-F241-962B-B94D8A742818}" type="presOf" srcId="{D6AFB629-A8D1-4C20-838D-EA1BA4CCC081}" destId="{0DDB1A2D-E0EC-D145-BF30-62B34E87A5B2}" srcOrd="0" destOrd="0" presId="urn:microsoft.com/office/officeart/2016/7/layout/RepeatingBendingProcessNew"/>
    <dgm:cxn modelId="{5945B55D-FF28-471C-A022-259CA4E34815}" srcId="{E2697797-BEB7-4C23-9C0C-A156DEB615DC}" destId="{E41F6B7E-62FD-432C-B6C7-AE1B5F7B6C10}" srcOrd="3" destOrd="0" parTransId="{35A5675D-7E15-4875-96A2-167C6A2E4FB0}" sibTransId="{78EC6804-4509-4D99-A698-4DE382946E0C}"/>
    <dgm:cxn modelId="{9D81D460-497A-3046-B1AF-DD55BB29050A}" type="presOf" srcId="{8632C320-8ACF-47BB-95D2-FFE153E72B3D}" destId="{42A07B57-118E-9145-AB3E-302EB9A52BE3}" srcOrd="0" destOrd="0" presId="urn:microsoft.com/office/officeart/2016/7/layout/RepeatingBendingProcessNew"/>
    <dgm:cxn modelId="{9FEF8774-33B7-2A42-9971-6D7E26DA6E44}" type="presOf" srcId="{2145965E-208D-407C-9429-78D179F068C8}" destId="{6579DDEC-FCDA-9241-BDE2-E882C679CF0F}" srcOrd="1" destOrd="0" presId="urn:microsoft.com/office/officeart/2016/7/layout/RepeatingBendingProcessNew"/>
    <dgm:cxn modelId="{7EF2FA76-99F6-6844-8FF0-DBCEBCEFCC34}" type="presOf" srcId="{A58FDA5E-3A09-4784-B3ED-8A4BCF9C9B23}" destId="{6E4ED0AD-7138-0C4E-B689-262E5EB7A5A7}" srcOrd="1" destOrd="0" presId="urn:microsoft.com/office/officeart/2016/7/layout/RepeatingBendingProcessNew"/>
    <dgm:cxn modelId="{2AEF0B77-C488-8A41-993F-8FD858DAB1A4}" type="presOf" srcId="{CD3FD311-EF0C-42FA-B133-09141DFE0ACE}" destId="{A501D212-B4EC-F147-903C-40C795877EBE}" srcOrd="0" destOrd="0" presId="urn:microsoft.com/office/officeart/2016/7/layout/RepeatingBendingProcessNew"/>
    <dgm:cxn modelId="{E8FDD880-EA42-4AAE-A133-2DAD4619AE08}" srcId="{E2697797-BEB7-4C23-9C0C-A156DEB615DC}" destId="{D9B2C264-1502-4FB5-A58B-50D845BA92CC}" srcOrd="2" destOrd="0" parTransId="{EA24E600-35F5-412A-A2E7-9B24F1959D79}" sibTransId="{2145965E-208D-407C-9429-78D179F068C8}"/>
    <dgm:cxn modelId="{64F2D783-8941-2044-BF04-4FBCE1AE1F18}" type="presOf" srcId="{E41F6B7E-62FD-432C-B6C7-AE1B5F7B6C10}" destId="{9D92CC52-9549-C74C-AC14-6287F6BFAEFB}" srcOrd="0" destOrd="0" presId="urn:microsoft.com/office/officeart/2016/7/layout/RepeatingBendingProcessNew"/>
    <dgm:cxn modelId="{AB85AC9E-1E86-B54E-B99B-87AFD4769820}" type="presOf" srcId="{78EC6804-4509-4D99-A698-4DE382946E0C}" destId="{FCC3474D-7E98-A942-8E70-06FCAE3365E4}" srcOrd="1" destOrd="0" presId="urn:microsoft.com/office/officeart/2016/7/layout/RepeatingBendingProcessNew"/>
    <dgm:cxn modelId="{E0369BA2-55FE-804D-AE25-415D8158D744}" type="presOf" srcId="{C160198A-9914-4FA5-9E6E-ADC15D660182}" destId="{797C8C83-F098-474D-979D-6A6816991972}" srcOrd="0" destOrd="0" presId="urn:microsoft.com/office/officeart/2016/7/layout/RepeatingBendingProcessNew"/>
    <dgm:cxn modelId="{9FA5EBA2-5C53-2643-82A7-E118B16D963E}" type="presOf" srcId="{E2697797-BEB7-4C23-9C0C-A156DEB615DC}" destId="{70EA2941-7AF0-984A-91D6-59243109FF81}" srcOrd="0" destOrd="0" presId="urn:microsoft.com/office/officeart/2016/7/layout/RepeatingBendingProcessNew"/>
    <dgm:cxn modelId="{DC2E77B3-F52C-4A77-B4E1-A27C19275699}" srcId="{E2697797-BEB7-4C23-9C0C-A156DEB615DC}" destId="{C160198A-9914-4FA5-9E6E-ADC15D660182}" srcOrd="5" destOrd="0" parTransId="{639C6134-1571-4901-A2D8-7534C687CBCE}" sibTransId="{3A419D14-4106-40F2-9003-67A4DB9E0451}"/>
    <dgm:cxn modelId="{3B5127D4-BCB7-E142-9105-F7397AE943E6}" type="presOf" srcId="{CD3FD311-EF0C-42FA-B133-09141DFE0ACE}" destId="{171D30FC-B1F6-EF40-B8AA-0E11EAADFD2D}" srcOrd="1" destOrd="0" presId="urn:microsoft.com/office/officeart/2016/7/layout/RepeatingBendingProcessNew"/>
    <dgm:cxn modelId="{146E28DC-760C-6E4F-8D92-8240A81205B8}" type="presOf" srcId="{B493DFAE-6316-45AF-859E-DB823E0BDDC4}" destId="{FA7A9FD9-70C6-3F4D-9C34-4507E94A1700}" srcOrd="0" destOrd="0" presId="urn:microsoft.com/office/officeart/2016/7/layout/RepeatingBendingProcessNew"/>
    <dgm:cxn modelId="{374CE4E3-ED47-1E44-8E92-6F3745DFB84D}" type="presOf" srcId="{2145965E-208D-407C-9429-78D179F068C8}" destId="{9D2C27F8-49E6-9348-BD6E-F77722D37250}" srcOrd="0" destOrd="0" presId="urn:microsoft.com/office/officeart/2016/7/layout/RepeatingBendingProcessNew"/>
    <dgm:cxn modelId="{3D2258E7-691E-2D4B-ADB3-68390B272443}" type="presOf" srcId="{A58FDA5E-3A09-4784-B3ED-8A4BCF9C9B23}" destId="{C9642D89-BB90-8B46-8751-085734E22A07}" srcOrd="0" destOrd="0" presId="urn:microsoft.com/office/officeart/2016/7/layout/RepeatingBendingProcessNew"/>
    <dgm:cxn modelId="{EB0462F2-F867-3A40-AFC7-D39131FCB83C}" type="presOf" srcId="{78EC6804-4509-4D99-A698-4DE382946E0C}" destId="{017BDE01-662D-6E4C-A262-AAFC6AC8C413}" srcOrd="0" destOrd="0" presId="urn:microsoft.com/office/officeart/2016/7/layout/RepeatingBendingProcessNew"/>
    <dgm:cxn modelId="{2BDD3FF7-7E24-4FBA-A71E-C2BE402AB572}" srcId="{E2697797-BEB7-4C23-9C0C-A156DEB615DC}" destId="{8632C320-8ACF-47BB-95D2-FFE153E72B3D}" srcOrd="4" destOrd="0" parTransId="{F3A1D5A1-4171-4CC8-BBCD-8D00E29AA690}" sibTransId="{CD3FD311-EF0C-42FA-B133-09141DFE0ACE}"/>
    <dgm:cxn modelId="{4C53EBFB-D44E-194A-86F4-CA3FA7BB6E65}" type="presOf" srcId="{D6AFB629-A8D1-4C20-838D-EA1BA4CCC081}" destId="{A7E78E93-78DF-194E-AE89-352BC53D75E0}" srcOrd="1" destOrd="0" presId="urn:microsoft.com/office/officeart/2016/7/layout/RepeatingBendingProcessNew"/>
    <dgm:cxn modelId="{08EF9446-7E74-7B47-8EC5-D33F8E784A50}" type="presParOf" srcId="{70EA2941-7AF0-984A-91D6-59243109FF81}" destId="{FA7A9FD9-70C6-3F4D-9C34-4507E94A1700}" srcOrd="0" destOrd="0" presId="urn:microsoft.com/office/officeart/2016/7/layout/RepeatingBendingProcessNew"/>
    <dgm:cxn modelId="{6C7825C0-3A35-C74A-92A0-36EF879A62DF}" type="presParOf" srcId="{70EA2941-7AF0-984A-91D6-59243109FF81}" destId="{C9642D89-BB90-8B46-8751-085734E22A07}" srcOrd="1" destOrd="0" presId="urn:microsoft.com/office/officeart/2016/7/layout/RepeatingBendingProcessNew"/>
    <dgm:cxn modelId="{AE2C85EB-B36B-144F-8024-834C4675700F}" type="presParOf" srcId="{C9642D89-BB90-8B46-8751-085734E22A07}" destId="{6E4ED0AD-7138-0C4E-B689-262E5EB7A5A7}" srcOrd="0" destOrd="0" presId="urn:microsoft.com/office/officeart/2016/7/layout/RepeatingBendingProcessNew"/>
    <dgm:cxn modelId="{47F33424-332D-C64F-AA5A-E647FCF2E54F}" type="presParOf" srcId="{70EA2941-7AF0-984A-91D6-59243109FF81}" destId="{7E8BD419-32F3-5E45-B567-BA26D7F07357}" srcOrd="2" destOrd="0" presId="urn:microsoft.com/office/officeart/2016/7/layout/RepeatingBendingProcessNew"/>
    <dgm:cxn modelId="{17096B41-F6B4-1445-96D8-F0A1D06581E6}" type="presParOf" srcId="{70EA2941-7AF0-984A-91D6-59243109FF81}" destId="{0DDB1A2D-E0EC-D145-BF30-62B34E87A5B2}" srcOrd="3" destOrd="0" presId="urn:microsoft.com/office/officeart/2016/7/layout/RepeatingBendingProcessNew"/>
    <dgm:cxn modelId="{23A018A4-F493-764C-8B97-09860C732AB6}" type="presParOf" srcId="{0DDB1A2D-E0EC-D145-BF30-62B34E87A5B2}" destId="{A7E78E93-78DF-194E-AE89-352BC53D75E0}" srcOrd="0" destOrd="0" presId="urn:microsoft.com/office/officeart/2016/7/layout/RepeatingBendingProcessNew"/>
    <dgm:cxn modelId="{B9BB886A-B18B-3549-AD5F-A86ACB65CAB2}" type="presParOf" srcId="{70EA2941-7AF0-984A-91D6-59243109FF81}" destId="{0329C3B4-05DC-6043-AC52-47BE6B868732}" srcOrd="4" destOrd="0" presId="urn:microsoft.com/office/officeart/2016/7/layout/RepeatingBendingProcessNew"/>
    <dgm:cxn modelId="{BD92309F-98C7-D049-B4F0-F7B1070ED1B1}" type="presParOf" srcId="{70EA2941-7AF0-984A-91D6-59243109FF81}" destId="{9D2C27F8-49E6-9348-BD6E-F77722D37250}" srcOrd="5" destOrd="0" presId="urn:microsoft.com/office/officeart/2016/7/layout/RepeatingBendingProcessNew"/>
    <dgm:cxn modelId="{BD9B743F-9024-DA41-A04C-EAC00FF45786}" type="presParOf" srcId="{9D2C27F8-49E6-9348-BD6E-F77722D37250}" destId="{6579DDEC-FCDA-9241-BDE2-E882C679CF0F}" srcOrd="0" destOrd="0" presId="urn:microsoft.com/office/officeart/2016/7/layout/RepeatingBendingProcessNew"/>
    <dgm:cxn modelId="{FBC80946-E470-EB4F-8B4C-0CC6A329E5DF}" type="presParOf" srcId="{70EA2941-7AF0-984A-91D6-59243109FF81}" destId="{9D92CC52-9549-C74C-AC14-6287F6BFAEFB}" srcOrd="6" destOrd="0" presId="urn:microsoft.com/office/officeart/2016/7/layout/RepeatingBendingProcessNew"/>
    <dgm:cxn modelId="{11494095-37A5-B243-BB33-C66A5B74156A}" type="presParOf" srcId="{70EA2941-7AF0-984A-91D6-59243109FF81}" destId="{017BDE01-662D-6E4C-A262-AAFC6AC8C413}" srcOrd="7" destOrd="0" presId="urn:microsoft.com/office/officeart/2016/7/layout/RepeatingBendingProcessNew"/>
    <dgm:cxn modelId="{6F17EF33-885B-3E49-8612-2434F1475C2D}" type="presParOf" srcId="{017BDE01-662D-6E4C-A262-AAFC6AC8C413}" destId="{FCC3474D-7E98-A942-8E70-06FCAE3365E4}" srcOrd="0" destOrd="0" presId="urn:microsoft.com/office/officeart/2016/7/layout/RepeatingBendingProcessNew"/>
    <dgm:cxn modelId="{3B2CCCC4-AC5A-1249-83BE-9CE04D128AE6}" type="presParOf" srcId="{70EA2941-7AF0-984A-91D6-59243109FF81}" destId="{42A07B57-118E-9145-AB3E-302EB9A52BE3}" srcOrd="8" destOrd="0" presId="urn:microsoft.com/office/officeart/2016/7/layout/RepeatingBendingProcessNew"/>
    <dgm:cxn modelId="{08094AB3-5386-B948-9A98-3970A9269D40}" type="presParOf" srcId="{70EA2941-7AF0-984A-91D6-59243109FF81}" destId="{A501D212-B4EC-F147-903C-40C795877EBE}" srcOrd="9" destOrd="0" presId="urn:microsoft.com/office/officeart/2016/7/layout/RepeatingBendingProcessNew"/>
    <dgm:cxn modelId="{819A898F-F2E9-0A47-8102-D21ECE941E51}" type="presParOf" srcId="{A501D212-B4EC-F147-903C-40C795877EBE}" destId="{171D30FC-B1F6-EF40-B8AA-0E11EAADFD2D}" srcOrd="0" destOrd="0" presId="urn:microsoft.com/office/officeart/2016/7/layout/RepeatingBendingProcessNew"/>
    <dgm:cxn modelId="{0C58F501-8654-6943-AF1C-BEA74664D0F2}" type="presParOf" srcId="{70EA2941-7AF0-984A-91D6-59243109FF81}" destId="{797C8C83-F098-474D-979D-6A6816991972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A01DBC-686D-4665-943E-D5063EB5CA8F}">
      <dsp:nvSpPr>
        <dsp:cNvPr id="0" name=""/>
        <dsp:cNvSpPr/>
      </dsp:nvSpPr>
      <dsp:spPr>
        <a:xfrm>
          <a:off x="0" y="679"/>
          <a:ext cx="7060095" cy="15902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F33AAD-5BE9-4CBE-B828-BF25297B5E02}">
      <dsp:nvSpPr>
        <dsp:cNvPr id="0" name=""/>
        <dsp:cNvSpPr/>
      </dsp:nvSpPr>
      <dsp:spPr>
        <a:xfrm>
          <a:off x="481061" y="358494"/>
          <a:ext cx="874657" cy="87465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7E1EF5-D4FE-4F8E-B477-30DFBCB93951}">
      <dsp:nvSpPr>
        <dsp:cNvPr id="0" name=""/>
        <dsp:cNvSpPr/>
      </dsp:nvSpPr>
      <dsp:spPr>
        <a:xfrm>
          <a:off x="1836781" y="679"/>
          <a:ext cx="5223313" cy="1590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305" tIns="168305" rIns="168305" bIns="16830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Dataset: "Sentiment Analysis for Mental Health" (Kaggle)</a:t>
          </a:r>
        </a:p>
      </dsp:txBody>
      <dsp:txXfrm>
        <a:off x="1836781" y="679"/>
        <a:ext cx="5223313" cy="1590286"/>
      </dsp:txXfrm>
    </dsp:sp>
    <dsp:sp modelId="{EE64FC32-D503-432B-87D6-DDCCC044B236}">
      <dsp:nvSpPr>
        <dsp:cNvPr id="0" name=""/>
        <dsp:cNvSpPr/>
      </dsp:nvSpPr>
      <dsp:spPr>
        <a:xfrm>
          <a:off x="0" y="1988538"/>
          <a:ext cx="7060095" cy="15902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D669BF-F2F2-4458-8E27-8763EB0382BC}">
      <dsp:nvSpPr>
        <dsp:cNvPr id="0" name=""/>
        <dsp:cNvSpPr/>
      </dsp:nvSpPr>
      <dsp:spPr>
        <a:xfrm>
          <a:off x="481061" y="2346352"/>
          <a:ext cx="874657" cy="87465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AE3CA-4543-4051-A812-8E598E0CDCB2}">
      <dsp:nvSpPr>
        <dsp:cNvPr id="0" name=""/>
        <dsp:cNvSpPr/>
      </dsp:nvSpPr>
      <dsp:spPr>
        <a:xfrm>
          <a:off x="1836781" y="1988538"/>
          <a:ext cx="5223313" cy="1590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305" tIns="168305" rIns="168305" bIns="16830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Categories: Normal, Depression, Suicidal, Anxiety, Bipolar, Stress, Personality Disorder</a:t>
          </a:r>
        </a:p>
      </dsp:txBody>
      <dsp:txXfrm>
        <a:off x="1836781" y="1988538"/>
        <a:ext cx="5223313" cy="1590286"/>
      </dsp:txXfrm>
    </dsp:sp>
    <dsp:sp modelId="{342D6529-539D-4BC8-B574-AA7056B718A7}">
      <dsp:nvSpPr>
        <dsp:cNvPr id="0" name=""/>
        <dsp:cNvSpPr/>
      </dsp:nvSpPr>
      <dsp:spPr>
        <a:xfrm>
          <a:off x="0" y="3976396"/>
          <a:ext cx="7060095" cy="15902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2AE664-13CD-452B-8E29-310A7700CD87}">
      <dsp:nvSpPr>
        <dsp:cNvPr id="0" name=""/>
        <dsp:cNvSpPr/>
      </dsp:nvSpPr>
      <dsp:spPr>
        <a:xfrm>
          <a:off x="481061" y="4334211"/>
          <a:ext cx="874657" cy="87465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30644-8120-4472-BB8E-C093B994AF19}">
      <dsp:nvSpPr>
        <dsp:cNvPr id="0" name=""/>
        <dsp:cNvSpPr/>
      </dsp:nvSpPr>
      <dsp:spPr>
        <a:xfrm>
          <a:off x="1836781" y="3976396"/>
          <a:ext cx="5223313" cy="15902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305" tIns="168305" rIns="168305" bIns="16830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Objective: Predict mental health status from textual statements</a:t>
          </a:r>
        </a:p>
      </dsp:txBody>
      <dsp:txXfrm>
        <a:off x="1836781" y="3976396"/>
        <a:ext cx="5223313" cy="15902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42D89-BB90-8B46-8751-085734E22A07}">
      <dsp:nvSpPr>
        <dsp:cNvPr id="0" name=""/>
        <dsp:cNvSpPr/>
      </dsp:nvSpPr>
      <dsp:spPr>
        <a:xfrm>
          <a:off x="3288253" y="895140"/>
          <a:ext cx="668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851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05032" y="937365"/>
        <a:ext cx="34955" cy="6991"/>
      </dsp:txXfrm>
    </dsp:sp>
    <dsp:sp modelId="{FA7A9FD9-70C6-3F4D-9C34-4507E94A1700}">
      <dsp:nvSpPr>
        <dsp:cNvPr id="0" name=""/>
        <dsp:cNvSpPr/>
      </dsp:nvSpPr>
      <dsp:spPr>
        <a:xfrm>
          <a:off x="250432" y="28974"/>
          <a:ext cx="3039621" cy="1823772"/>
        </a:xfrm>
        <a:prstGeom prst="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944" tIns="156343" rIns="148944" bIns="1563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Workflow:</a:t>
          </a:r>
          <a:endParaRPr lang="en-US" sz="1400" kern="1200"/>
        </a:p>
      </dsp:txBody>
      <dsp:txXfrm>
        <a:off x="250432" y="28974"/>
        <a:ext cx="3039621" cy="1823772"/>
      </dsp:txXfrm>
    </dsp:sp>
    <dsp:sp modelId="{0DDB1A2D-E0EC-D145-BF30-62B34E87A5B2}">
      <dsp:nvSpPr>
        <dsp:cNvPr id="0" name=""/>
        <dsp:cNvSpPr/>
      </dsp:nvSpPr>
      <dsp:spPr>
        <a:xfrm>
          <a:off x="7026988" y="895140"/>
          <a:ext cx="668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851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43766" y="937365"/>
        <a:ext cx="34955" cy="6991"/>
      </dsp:txXfrm>
    </dsp:sp>
    <dsp:sp modelId="{7E8BD419-32F3-5E45-B567-BA26D7F07357}">
      <dsp:nvSpPr>
        <dsp:cNvPr id="0" name=""/>
        <dsp:cNvSpPr/>
      </dsp:nvSpPr>
      <dsp:spPr>
        <a:xfrm>
          <a:off x="3989166" y="28974"/>
          <a:ext cx="3039621" cy="1823772"/>
        </a:xfrm>
        <a:prstGeom prst="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432" tIns="108570" rIns="103432" bIns="1085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Load Pre‑trained Tokenizer</a:t>
          </a:r>
          <a:br>
            <a:rPr lang="en-US" sz="1400" kern="1200"/>
          </a:br>
          <a:r>
            <a:rPr lang="en-US" sz="1400" kern="1200"/>
            <a:t>– Maps raw sentences into BERT’s subword vocabulary.</a:t>
          </a:r>
        </a:p>
      </dsp:txBody>
      <dsp:txXfrm>
        <a:off x="3989166" y="28974"/>
        <a:ext cx="3039621" cy="1823772"/>
      </dsp:txXfrm>
    </dsp:sp>
    <dsp:sp modelId="{9D2C27F8-49E6-9348-BD6E-F77722D37250}">
      <dsp:nvSpPr>
        <dsp:cNvPr id="0" name=""/>
        <dsp:cNvSpPr/>
      </dsp:nvSpPr>
      <dsp:spPr>
        <a:xfrm>
          <a:off x="1770243" y="1877528"/>
          <a:ext cx="7476602" cy="668512"/>
        </a:xfrm>
        <a:custGeom>
          <a:avLst/>
          <a:gdLst/>
          <a:ahLst/>
          <a:cxnLst/>
          <a:rect l="0" t="0" r="0" b="0"/>
          <a:pathLst>
            <a:path>
              <a:moveTo>
                <a:pt x="7476602" y="0"/>
              </a:moveTo>
              <a:lnTo>
                <a:pt x="7476602" y="351356"/>
              </a:lnTo>
              <a:lnTo>
                <a:pt x="0" y="351356"/>
              </a:lnTo>
              <a:lnTo>
                <a:pt x="0" y="668512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20813" y="2208289"/>
        <a:ext cx="375460" cy="6991"/>
      </dsp:txXfrm>
    </dsp:sp>
    <dsp:sp modelId="{0329C3B4-05DC-6043-AC52-47BE6B868732}">
      <dsp:nvSpPr>
        <dsp:cNvPr id="0" name=""/>
        <dsp:cNvSpPr/>
      </dsp:nvSpPr>
      <dsp:spPr>
        <a:xfrm>
          <a:off x="7727901" y="2392"/>
          <a:ext cx="3037888" cy="1876935"/>
        </a:xfrm>
        <a:prstGeom prst="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432" tIns="108570" rIns="103432" bIns="1085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Custom Dataset Class</a:t>
          </a:r>
          <a:br>
            <a:rPr lang="en-US" sz="1400" kern="1200" dirty="0"/>
          </a:br>
          <a:r>
            <a:rPr lang="en-US" sz="1400" kern="1200" dirty="0"/>
            <a:t>– Wraps text &amp; label lists</a:t>
          </a:r>
          <a:br>
            <a:rPr lang="en-US" sz="1400" kern="1200" dirty="0"/>
          </a:br>
          <a:r>
            <a:rPr lang="en-US" sz="1400" kern="1200" dirty="0"/>
            <a:t>– On access:</a:t>
          </a:r>
          <a:br>
            <a:rPr lang="en-US" sz="1400" kern="1200" dirty="0"/>
          </a:br>
          <a:r>
            <a:rPr lang="en-US" sz="1400" kern="1200" dirty="0"/>
            <a:t>• Converts </a:t>
          </a:r>
          <a:r>
            <a:rPr lang="en-US" sz="1400" b="1" kern="1200" dirty="0">
              <a:latin typeface="Avenir Next LT Pro"/>
              <a:ea typeface="+mn-ea"/>
              <a:cs typeface="+mn-cs"/>
            </a:rPr>
            <a:t>sentence</a:t>
          </a:r>
          <a:r>
            <a:rPr lang="en-US" sz="1400" kern="1200" dirty="0"/>
            <a:t> → token IDs + attention mask</a:t>
          </a:r>
          <a:br>
            <a:rPr lang="en-US" sz="1400" kern="1200" dirty="0"/>
          </a:br>
          <a:r>
            <a:rPr lang="en-US" sz="1400" kern="1200" dirty="0"/>
            <a:t>• Pads or </a:t>
          </a:r>
          <a:r>
            <a:rPr lang="en-US" sz="1400" b="1" kern="1200" dirty="0">
              <a:latin typeface="Avenir Next LT Pro"/>
              <a:ea typeface="+mn-ea"/>
              <a:cs typeface="+mn-cs"/>
            </a:rPr>
            <a:t>truncates</a:t>
          </a:r>
          <a:r>
            <a:rPr lang="en-US" sz="1400" kern="1200" dirty="0"/>
            <a:t> to fixed length</a:t>
          </a:r>
          <a:br>
            <a:rPr lang="en-US" sz="1400" kern="1200" dirty="0"/>
          </a:br>
          <a:r>
            <a:rPr lang="en-US" sz="1400" kern="1200" dirty="0"/>
            <a:t>• Returns tensors for model input</a:t>
          </a:r>
        </a:p>
      </dsp:txBody>
      <dsp:txXfrm>
        <a:off x="7727901" y="2392"/>
        <a:ext cx="3037888" cy="1876935"/>
      </dsp:txXfrm>
    </dsp:sp>
    <dsp:sp modelId="{017BDE01-662D-6E4C-A262-AAFC6AC8C413}">
      <dsp:nvSpPr>
        <dsp:cNvPr id="0" name=""/>
        <dsp:cNvSpPr/>
      </dsp:nvSpPr>
      <dsp:spPr>
        <a:xfrm>
          <a:off x="3288253" y="3444607"/>
          <a:ext cx="668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851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05032" y="3486832"/>
        <a:ext cx="34955" cy="6991"/>
      </dsp:txXfrm>
    </dsp:sp>
    <dsp:sp modelId="{9D92CC52-9549-C74C-AC14-6287F6BFAEFB}">
      <dsp:nvSpPr>
        <dsp:cNvPr id="0" name=""/>
        <dsp:cNvSpPr/>
      </dsp:nvSpPr>
      <dsp:spPr>
        <a:xfrm>
          <a:off x="250432" y="2578441"/>
          <a:ext cx="3039621" cy="1823772"/>
        </a:xfrm>
        <a:prstGeom prst="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944" tIns="156343" rIns="148944" bIns="1563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Instantiate Dataset</a:t>
          </a:r>
          <a:br>
            <a:rPr lang="en-US" sz="1400" kern="1200" dirty="0"/>
          </a:br>
          <a:r>
            <a:rPr lang="en-US" sz="1400" kern="1200" dirty="0"/>
            <a:t>– Feed DataFrame’s “statement” and “status” columns into the custom class</a:t>
          </a:r>
        </a:p>
      </dsp:txBody>
      <dsp:txXfrm>
        <a:off x="250432" y="2578441"/>
        <a:ext cx="3039621" cy="1823772"/>
      </dsp:txXfrm>
    </dsp:sp>
    <dsp:sp modelId="{A501D212-B4EC-F147-903C-40C795877EBE}">
      <dsp:nvSpPr>
        <dsp:cNvPr id="0" name=""/>
        <dsp:cNvSpPr/>
      </dsp:nvSpPr>
      <dsp:spPr>
        <a:xfrm>
          <a:off x="7026988" y="3444607"/>
          <a:ext cx="668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851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343766" y="3486832"/>
        <a:ext cx="34955" cy="6991"/>
      </dsp:txXfrm>
    </dsp:sp>
    <dsp:sp modelId="{42A07B57-118E-9145-AB3E-302EB9A52BE3}">
      <dsp:nvSpPr>
        <dsp:cNvPr id="0" name=""/>
        <dsp:cNvSpPr/>
      </dsp:nvSpPr>
      <dsp:spPr>
        <a:xfrm>
          <a:off x="3989166" y="2578441"/>
          <a:ext cx="3039621" cy="1823772"/>
        </a:xfrm>
        <a:prstGeom prst="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432" tIns="108570" rIns="103432" bIns="10857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venir Next LT Pro"/>
              <a:ea typeface="+mn-ea"/>
              <a:cs typeface="+mn-cs"/>
            </a:rPr>
            <a:t>Create DataLoader</a:t>
          </a:r>
          <a:br>
            <a:rPr lang="en-US" sz="1400" b="1" kern="1200" dirty="0">
              <a:latin typeface="Avenir Next LT Pro"/>
              <a:ea typeface="+mn-ea"/>
              <a:cs typeface="+mn-cs"/>
            </a:rPr>
          </a:br>
          <a:r>
            <a:rPr lang="en-US" sz="1400" b="1" kern="1200" dirty="0">
              <a:latin typeface="Avenir Next LT Pro"/>
              <a:ea typeface="+mn-ea"/>
              <a:cs typeface="+mn-cs"/>
            </a:rPr>
            <a:t>– </a:t>
          </a:r>
          <a:r>
            <a:rPr lang="en-US" sz="1400" b="0" kern="1200" dirty="0">
              <a:latin typeface="Avenir Next LT Pro"/>
              <a:ea typeface="+mn-ea"/>
              <a:cs typeface="+mn-cs"/>
            </a:rPr>
            <a:t>Batches examples (size 32)</a:t>
          </a:r>
          <a:br>
            <a:rPr lang="en-US" sz="1400" b="0" kern="1200" dirty="0">
              <a:latin typeface="Avenir Next LT Pro"/>
              <a:ea typeface="+mn-ea"/>
              <a:cs typeface="+mn-cs"/>
            </a:rPr>
          </a:br>
          <a:r>
            <a:rPr lang="en-US" sz="1400" b="0" kern="1200" dirty="0">
              <a:latin typeface="Avenir Next LT Pro"/>
              <a:ea typeface="+mn-ea"/>
              <a:cs typeface="+mn-cs"/>
            </a:rPr>
            <a:t>– Shuffles each epoch for robust training</a:t>
          </a:r>
        </a:p>
      </dsp:txBody>
      <dsp:txXfrm>
        <a:off x="3989166" y="2578441"/>
        <a:ext cx="3039621" cy="1823772"/>
      </dsp:txXfrm>
    </dsp:sp>
    <dsp:sp modelId="{797C8C83-F098-474D-979D-6A6816991972}">
      <dsp:nvSpPr>
        <dsp:cNvPr id="0" name=""/>
        <dsp:cNvSpPr/>
      </dsp:nvSpPr>
      <dsp:spPr>
        <a:xfrm>
          <a:off x="7727901" y="2578441"/>
          <a:ext cx="3039621" cy="1823772"/>
        </a:xfrm>
        <a:prstGeom prst="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3432" tIns="108570" rIns="103432" bIns="1085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Batch </a:t>
          </a:r>
          <a:r>
            <a:rPr lang="en-US" sz="1400" b="1" kern="1200" dirty="0">
              <a:latin typeface="Avenir Next LT Pro"/>
              <a:ea typeface="+mn-ea"/>
              <a:cs typeface="+mn-cs"/>
            </a:rPr>
            <a:t>Inspection</a:t>
          </a:r>
          <a:br>
            <a:rPr lang="en-US" sz="1400" kern="1200" dirty="0"/>
          </a:br>
          <a:r>
            <a:rPr lang="en-US" sz="1400" kern="1200" dirty="0"/>
            <a:t>– Pull one mini‑batch to confirm:</a:t>
          </a:r>
          <a:br>
            <a:rPr lang="en-US" sz="1400" kern="1200" dirty="0"/>
          </a:br>
          <a:r>
            <a:rPr lang="en-US" sz="1400" kern="1200" dirty="0"/>
            <a:t>• input_ids, </a:t>
          </a:r>
          <a:r>
            <a:rPr lang="en-US" sz="1400" kern="1200" dirty="0" err="1"/>
            <a:t>attention_mask</a:t>
          </a:r>
          <a:r>
            <a:rPr lang="en-US" sz="1400" kern="1200" dirty="0"/>
            <a:t>, labels all as tensors</a:t>
          </a:r>
        </a:p>
      </dsp:txBody>
      <dsp:txXfrm>
        <a:off x="7727901" y="2578441"/>
        <a:ext cx="3039621" cy="18237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03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634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2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691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8"/>
            <a:ext cx="10515600" cy="10842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157787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43199"/>
            <a:ext cx="5157787" cy="3446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43199"/>
            <a:ext cx="5183188" cy="3446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93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8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9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68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86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8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61999"/>
            <a:ext cx="2628900" cy="5414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61999"/>
            <a:ext cx="7734300" cy="54149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5/4/25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1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AA70F276-1833-4A75-9C1D-A56E2295A68D}" type="datetimeFigureOut">
              <a:rPr lang="en-US" smtClean="0"/>
              <a:pPr/>
              <a:t>5/4/25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3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vsuta-my.sharepoint.com/:v:/r/personal/axk8440_mavs_uta_edu/Documents/Recordings/Call%20with%205305-Deeplearning_ANN-project%20group-20250504_215840-Meeting%20Recording.mp4?csf=1&amp;web=1&amp;e=4KYHF0&amp;nav=eyJyZWZlcnJhbEluZm8iOnsicmVmZXJyYWxBcHAiOiJTdHJlYW1XZWJBcHAiLCJyZWZlcnJhbFZpZXciOiJTaGFyZURpYWxvZy1MaW5rIiwicmVmZXJyYWxBcHBQbGF0Zm9ybSI6IldlYiIsInJlZmVycmFsTW9kZSI6InZpZXcifX0%3D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mq2_9T-zu0ty0Yj03AQOTLypPpCAItfX?usp=sharing" TargetMode="External"/><Relationship Id="rId2" Type="http://schemas.openxmlformats.org/officeDocument/2006/relationships/hyperlink" Target="https://www.kaggle.com/datasets/suchintikasarkar/sentiment-analysis-for-mental-health/data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vsuta-my.sharepoint.com/:v:/r/personal/axk8440_mavs_uta_edu/Documents/Recordings/Call%20with%205305-Deeplearning_ANN-project%20group-20250504_215840-Meeting%20Recording.mp4?csf=1&amp;web=1&amp;e=4KYHF0&amp;nav=eyJyZWZlcnJhbEluZm8iOnsicmVmZXJyYWxBcHAiOiJTdHJlYW1XZWJBcHAiLCJyZWZlcnJhbFZpZXciOiJTaGFyZURpYWxvZy1MaW5rIiwicmVmZXJyYWxBcHBQbGF0Zm9ybSI6IldlYiIsInJlZmVycmFsTW9kZSI6InZpZXcifX0%3D" TargetMode="External"/><Relationship Id="rId4" Type="http://schemas.openxmlformats.org/officeDocument/2006/relationships/hyperlink" Target="https://www.geeksforgeeks.org/explanation-of-bert-model-nl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7646F-AAF0-7A42-8913-FF972B2708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81200"/>
            <a:ext cx="4546600" cy="2398889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50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Deep Learning for Mental Health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BC3FB7-8BD2-6CD1-BCA6-F95BA40A5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762000"/>
            <a:ext cx="4800600" cy="1066800"/>
          </a:xfrm>
        </p:spPr>
        <p:txBody>
          <a:bodyPr>
            <a:normAutofit/>
          </a:bodyPr>
          <a:lstStyle/>
          <a:p>
            <a:pPr algn="l"/>
            <a:r>
              <a:rPr lang="en-US" sz="1800" dirty="0">
                <a:solidFill>
                  <a:schemeClr val="tx2">
                    <a:alpha val="60000"/>
                  </a:schemeClr>
                </a:solidFill>
              </a:rPr>
              <a:t>Analyzing the "Sentiment Analysis for Mental Health" Dataset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F155B6-ACA8-4C58-AAB6-CAFC981FF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3796" y="0"/>
            <a:ext cx="6098204" cy="6882727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C31099-1BBD-40CE-BC60-FCE507419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1428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24B5301-8799-74CD-B389-F81BEAFED0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l="22343" r="24430"/>
          <a:stretch/>
        </p:blipFill>
        <p:spPr>
          <a:xfrm>
            <a:off x="6096000" y="10"/>
            <a:ext cx="6083807" cy="68579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C97B10-A500-6A7F-3CF3-305234BC1234}"/>
              </a:ext>
            </a:extLst>
          </p:cNvPr>
          <p:cNvSpPr txBox="1"/>
          <p:nvPr/>
        </p:nvSpPr>
        <p:spPr>
          <a:xfrm>
            <a:off x="838200" y="4532489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alpha val="60000"/>
                  </a:schemeClr>
                </a:solidFill>
              </a:rPr>
              <a:t>Group ID - sp25_DsoDusKan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alpha val="60000"/>
                  </a:schemeClr>
                </a:solidFill>
              </a:rPr>
              <a:t>Kyle Dsouza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alpha val="60000"/>
                  </a:schemeClr>
                </a:solidFill>
              </a:rPr>
              <a:t>Vinay Dussa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alpha val="60000"/>
                  </a:schemeClr>
                </a:solidFill>
              </a:rPr>
              <a:t>Ajay Kanumala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434E0C-2B47-FAA5-5F75-264D071BFF48}"/>
              </a:ext>
            </a:extLst>
          </p:cNvPr>
          <p:cNvSpPr txBox="1"/>
          <p:nvPr/>
        </p:nvSpPr>
        <p:spPr>
          <a:xfrm>
            <a:off x="838200" y="6096000"/>
            <a:ext cx="4546600" cy="383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hlinkClick r:id="rId3"/>
              </a:rPr>
              <a:t>Click here for video of this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106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61DF3E2F-0A88-4C55-8678-0764BF733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370028-A8B2-4CEC-4616-24F334CD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09600"/>
            <a:ext cx="3200400" cy="5567363"/>
          </a:xfrm>
        </p:spPr>
        <p:txBody>
          <a:bodyPr anchor="ctr">
            <a:normAutofit/>
          </a:bodyPr>
          <a:lstStyle/>
          <a:p>
            <a:r>
              <a:rPr lang="en-US" sz="3700" b="1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Introduction to the Dataset</a:t>
            </a:r>
            <a:br>
              <a:rPr lang="en-US" sz="3700" b="1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</a:br>
            <a:endParaRPr lang="en-US" sz="370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DA48FC-19A2-B096-12D5-E6449ABBC9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0499171"/>
              </p:ext>
            </p:extLst>
          </p:nvPr>
        </p:nvGraphicFramePr>
        <p:xfrm>
          <a:off x="4293704" y="609600"/>
          <a:ext cx="7060095" cy="556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290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2A570-542B-4561-2995-090D0016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57251"/>
            <a:ext cx="7419108" cy="1428749"/>
          </a:xfrm>
        </p:spPr>
        <p:txBody>
          <a:bodyPr anchor="b">
            <a:normAutofit fontScale="90000"/>
          </a:bodyPr>
          <a:lstStyle/>
          <a:p>
            <a:r>
              <a:rPr lang="en-US" sz="3400" b="1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Dataset Distribution (Before Balancing)</a:t>
            </a:r>
            <a:br>
              <a:rPr lang="en-US" sz="3400" b="1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</a:br>
            <a:endParaRPr lang="en-US" sz="3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DC68C-1027-6B60-6B5C-DB339BB16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760" y="2450589"/>
            <a:ext cx="3572676" cy="2986087"/>
          </a:xfrm>
        </p:spPr>
        <p:txBody>
          <a:bodyPr>
            <a:normAutofit/>
          </a:bodyPr>
          <a:lstStyle/>
          <a:p>
            <a:pPr marL="228600" indent="0" rtl="0">
              <a:lnSpc>
                <a:spcPct val="100000"/>
              </a:lnSpc>
              <a:buNone/>
            </a:pPr>
            <a:r>
              <a:rPr lang="en-US" sz="1600" b="1" dirty="0">
                <a:solidFill>
                  <a:schemeClr val="tx2">
                    <a:alpha val="60000"/>
                  </a:schemeClr>
                </a:solidFill>
              </a:rPr>
              <a:t>Initial Class Distribution:</a:t>
            </a:r>
          </a:p>
          <a:p>
            <a:pPr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alpha val="60000"/>
                  </a:schemeClr>
                </a:solidFill>
              </a:rPr>
              <a:t>Normal: </a:t>
            </a:r>
            <a:r>
              <a:rPr lang="en-US" sz="1600" dirty="0">
                <a:solidFill>
                  <a:schemeClr val="tx2">
                    <a:alpha val="60000"/>
                  </a:schemeClr>
                </a:solidFill>
              </a:rPr>
              <a:t>16,343</a:t>
            </a:r>
          </a:p>
          <a:p>
            <a:pPr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alpha val="60000"/>
                  </a:schemeClr>
                </a:solidFill>
              </a:rPr>
              <a:t>Depression: </a:t>
            </a:r>
            <a:r>
              <a:rPr lang="en-US" sz="1600" dirty="0">
                <a:solidFill>
                  <a:schemeClr val="tx2">
                    <a:alpha val="60000"/>
                  </a:schemeClr>
                </a:solidFill>
              </a:rPr>
              <a:t>15,404</a:t>
            </a:r>
          </a:p>
          <a:p>
            <a:pPr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alpha val="60000"/>
                  </a:schemeClr>
                </a:solidFill>
              </a:rPr>
              <a:t>Suicidal: </a:t>
            </a:r>
            <a:r>
              <a:rPr lang="en-US" sz="1600" dirty="0">
                <a:solidFill>
                  <a:schemeClr val="tx2">
                    <a:alpha val="60000"/>
                  </a:schemeClr>
                </a:solidFill>
              </a:rPr>
              <a:t>10,652</a:t>
            </a:r>
          </a:p>
          <a:p>
            <a:pPr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alpha val="60000"/>
                  </a:schemeClr>
                </a:solidFill>
              </a:rPr>
              <a:t>Anxiety: </a:t>
            </a:r>
            <a:r>
              <a:rPr lang="en-US" sz="1600" dirty="0">
                <a:solidFill>
                  <a:schemeClr val="tx2">
                    <a:alpha val="60000"/>
                  </a:schemeClr>
                </a:solidFill>
              </a:rPr>
              <a:t>3,841</a:t>
            </a:r>
          </a:p>
          <a:p>
            <a:pPr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alpha val="60000"/>
                  </a:schemeClr>
                </a:solidFill>
              </a:rPr>
              <a:t>Bipolar: </a:t>
            </a:r>
            <a:r>
              <a:rPr lang="en-US" sz="1600" dirty="0">
                <a:solidFill>
                  <a:schemeClr val="tx2">
                    <a:alpha val="60000"/>
                  </a:schemeClr>
                </a:solidFill>
              </a:rPr>
              <a:t>2,777</a:t>
            </a:r>
          </a:p>
          <a:p>
            <a:pPr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alpha val="60000"/>
                  </a:schemeClr>
                </a:solidFill>
              </a:rPr>
              <a:t>Stress: </a:t>
            </a:r>
            <a:r>
              <a:rPr lang="en-US" sz="1600" dirty="0">
                <a:solidFill>
                  <a:schemeClr val="tx2">
                    <a:alpha val="60000"/>
                  </a:schemeClr>
                </a:solidFill>
              </a:rPr>
              <a:t>2,587</a:t>
            </a:r>
          </a:p>
          <a:p>
            <a:pPr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2">
                    <a:alpha val="60000"/>
                  </a:schemeClr>
                </a:solidFill>
              </a:rPr>
              <a:t>Personality Disorder: </a:t>
            </a:r>
            <a:r>
              <a:rPr lang="en-US" sz="1600" dirty="0">
                <a:solidFill>
                  <a:schemeClr val="tx2">
                    <a:alpha val="60000"/>
                  </a:schemeClr>
                </a:solidFill>
              </a:rPr>
              <a:t>1,077</a:t>
            </a:r>
          </a:p>
          <a:p>
            <a:pPr>
              <a:lnSpc>
                <a:spcPct val="100000"/>
              </a:lnSpc>
            </a:pPr>
            <a:endParaRPr lang="en-US" sz="1600" dirty="0">
              <a:solidFill>
                <a:schemeClr val="tx2">
                  <a:alpha val="60000"/>
                </a:schemeClr>
              </a:solidFill>
            </a:endParaRPr>
          </a:p>
        </p:txBody>
      </p:sp>
      <p:pic>
        <p:nvPicPr>
          <p:cNvPr id="7" name="Picture 6" descr="A graph of a number of people with mental health status&#10;&#10;Description automatically generated">
            <a:extLst>
              <a:ext uri="{FF2B5EF4-FFF2-40B4-BE49-F238E27FC236}">
                <a16:creationId xmlns:a16="http://schemas.microsoft.com/office/drawing/2014/main" id="{D7D66BE4-8F26-D44E-9AAF-1224D7E31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436" y="2286000"/>
            <a:ext cx="7806632" cy="331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723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3EAFE-43F1-BF39-8454-638756BAF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23B25C5-01FC-8A00-99BF-6523572420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6F427F-33AB-A07A-33F9-35A8A4339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857251"/>
            <a:ext cx="7419108" cy="1428749"/>
          </a:xfrm>
        </p:spPr>
        <p:txBody>
          <a:bodyPr anchor="b">
            <a:normAutofit fontScale="90000"/>
          </a:bodyPr>
          <a:lstStyle/>
          <a:p>
            <a:r>
              <a:rPr lang="en-US" sz="3400" b="1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Dataset Distribution (After Balancing)</a:t>
            </a:r>
            <a:br>
              <a:rPr lang="en-US" sz="3400" b="1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</a:br>
            <a:endParaRPr lang="en-US" sz="3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409EE-F2B4-E2C1-7A72-43C884573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911" y="2599258"/>
            <a:ext cx="3414524" cy="2485550"/>
          </a:xfrm>
        </p:spPr>
        <p:txBody>
          <a:bodyPr>
            <a:normAutofit lnSpcReduction="10000"/>
          </a:bodyPr>
          <a:lstStyle/>
          <a:p>
            <a:pPr marL="228600" indent="0" rtl="0">
              <a:lnSpc>
                <a:spcPct val="100000"/>
              </a:lnSpc>
              <a:buNone/>
            </a:pPr>
            <a:endParaRPr lang="en-US" sz="1600" b="1" dirty="0">
              <a:solidFill>
                <a:schemeClr val="tx2">
                  <a:alpha val="60000"/>
                </a:schemeClr>
              </a:solidFill>
            </a:endParaRPr>
          </a:p>
          <a:p>
            <a:pPr marL="228600" indent="0" rtl="0">
              <a:lnSpc>
                <a:spcPct val="100000"/>
              </a:lnSpc>
              <a:buNone/>
            </a:pPr>
            <a:r>
              <a:rPr lang="en-US" sz="1600" b="1" dirty="0">
                <a:solidFill>
                  <a:schemeClr val="tx2">
                    <a:alpha val="60000"/>
                  </a:schemeClr>
                </a:solidFill>
              </a:rPr>
              <a:t>Resampling: </a:t>
            </a:r>
            <a:r>
              <a:rPr lang="en-US" sz="1600" dirty="0">
                <a:solidFill>
                  <a:schemeClr val="tx2">
                    <a:alpha val="60000"/>
                  </a:schemeClr>
                </a:solidFill>
              </a:rPr>
              <a:t>Under-sample the majority class and Over-sample the minority classes.</a:t>
            </a:r>
          </a:p>
          <a:p>
            <a:pPr marL="228600" indent="0" rtl="0">
              <a:lnSpc>
                <a:spcPct val="100000"/>
              </a:lnSpc>
              <a:buNone/>
            </a:pPr>
            <a:endParaRPr lang="en-US" sz="1600" b="1" dirty="0">
              <a:solidFill>
                <a:schemeClr val="tx2">
                  <a:alpha val="60000"/>
                </a:schemeClr>
              </a:solidFill>
            </a:endParaRPr>
          </a:p>
          <a:p>
            <a:pPr marL="228600" indent="0" rtl="0">
              <a:lnSpc>
                <a:spcPct val="100000"/>
              </a:lnSpc>
              <a:buNone/>
            </a:pPr>
            <a:r>
              <a:rPr lang="en-US" sz="1600" b="1" dirty="0">
                <a:solidFill>
                  <a:schemeClr val="tx2">
                    <a:alpha val="60000"/>
                  </a:schemeClr>
                </a:solidFill>
              </a:rPr>
              <a:t>Balanced Class Distribution:</a:t>
            </a:r>
          </a:p>
          <a:p>
            <a:pPr marL="228600" indent="0" rtl="0">
              <a:lnSpc>
                <a:spcPct val="100000"/>
              </a:lnSpc>
              <a:buNone/>
            </a:pPr>
            <a:r>
              <a:rPr lang="en-US" sz="1600" b="1" dirty="0">
                <a:solidFill>
                  <a:schemeClr val="tx2">
                    <a:alpha val="60000"/>
                  </a:schemeClr>
                </a:solidFill>
              </a:rPr>
              <a:t>All classes: </a:t>
            </a:r>
            <a:r>
              <a:rPr lang="en-US" sz="1600" dirty="0">
                <a:solidFill>
                  <a:schemeClr val="tx2">
                    <a:alpha val="60000"/>
                  </a:schemeClr>
                </a:solidFill>
              </a:rPr>
              <a:t>10,000 samples each.</a:t>
            </a:r>
          </a:p>
        </p:txBody>
      </p:sp>
      <p:pic>
        <p:nvPicPr>
          <p:cNvPr id="5" name="Picture 4" descr="A graph showing a number of blue rectangular bars&#10;&#10;Description automatically generated with medium confidence">
            <a:extLst>
              <a:ext uri="{FF2B5EF4-FFF2-40B4-BE49-F238E27FC236}">
                <a16:creationId xmlns:a16="http://schemas.microsoft.com/office/drawing/2014/main" id="{3CF35F7E-1DE1-CE07-C0BD-BC4C53A20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435" y="2263911"/>
            <a:ext cx="7687208" cy="315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03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rame 102">
            <a:extLst>
              <a:ext uri="{FF2B5EF4-FFF2-40B4-BE49-F238E27FC236}">
                <a16:creationId xmlns:a16="http://schemas.microsoft.com/office/drawing/2014/main" id="{19F9CD66-32FC-448F-B4C5-67D17508A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469BC1-8A25-0B4B-2453-146FA5FB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51"/>
            <a:ext cx="5890590" cy="2076450"/>
          </a:xfrm>
        </p:spPr>
        <p:txBody>
          <a:bodyPr anchor="b">
            <a:normAutofit/>
          </a:bodyPr>
          <a:lstStyle/>
          <a:p>
            <a:b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</a:br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Data Preprocessing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48D51D76-73B5-7752-DBD2-E63EA99E8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190875"/>
            <a:ext cx="5890591" cy="2986087"/>
          </a:xfrm>
        </p:spPr>
        <p:txBody>
          <a:bodyPr>
            <a:normAutofit/>
          </a:bodyPr>
          <a:lstStyle/>
          <a:p>
            <a:pPr marL="228600" indent="0">
              <a:buNone/>
            </a:pPr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- Found and dropped 362 rows with null values.</a:t>
            </a:r>
          </a:p>
          <a:p>
            <a:pPr marL="228600" indent="0">
              <a:buNone/>
            </a:pPr>
            <a:endParaRPr lang="en-US" sz="1800">
              <a:solidFill>
                <a:schemeClr val="tx2">
                  <a:alpha val="60000"/>
                </a:schemeClr>
              </a:solidFill>
            </a:endParaRPr>
          </a:p>
          <a:p>
            <a:pPr marL="228600" indent="0">
              <a:buNone/>
            </a:pPr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- </a:t>
            </a:r>
            <a:r>
              <a:rPr lang="en-US" sz="1800" b="1">
                <a:solidFill>
                  <a:schemeClr val="tx2">
                    <a:alpha val="60000"/>
                  </a:schemeClr>
                </a:solidFill>
              </a:rPr>
              <a:t>Label Encoding: </a:t>
            </a:r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Encode the status column with numerical values.</a:t>
            </a:r>
          </a:p>
        </p:txBody>
      </p:sp>
      <p:pic>
        <p:nvPicPr>
          <p:cNvPr id="78" name="Graphic 77" descr="Barcode">
            <a:extLst>
              <a:ext uri="{FF2B5EF4-FFF2-40B4-BE49-F238E27FC236}">
                <a16:creationId xmlns:a16="http://schemas.microsoft.com/office/drawing/2014/main" id="{F536144C-BDDD-305A-94EE-A8DA30DFE7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6477" y="1364834"/>
            <a:ext cx="4117323" cy="411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40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57365A-3C8D-33DE-9424-CD3801463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98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B8BC8-42A0-3473-6655-F2A648DFC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1"/>
            <a:ext cx="10515600" cy="970844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Convert Dataset into Tensor Format</a:t>
            </a:r>
          </a:p>
        </p:txBody>
      </p:sp>
      <p:graphicFrame>
        <p:nvGraphicFramePr>
          <p:cNvPr id="86" name="Content Placeholder 2">
            <a:extLst>
              <a:ext uri="{FF2B5EF4-FFF2-40B4-BE49-F238E27FC236}">
                <a16:creationId xmlns:a16="http://schemas.microsoft.com/office/drawing/2014/main" id="{F11FF77A-5C3D-25D8-91FA-D23B1C2E9D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2234202"/>
              </p:ext>
            </p:extLst>
          </p:nvPr>
        </p:nvGraphicFramePr>
        <p:xfrm>
          <a:off x="519289" y="1772356"/>
          <a:ext cx="11017955" cy="44046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106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22ADF-6531-C3FE-C843-F9A4A966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D541176D-B970-B152-87B0-FC474D96C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75D88D-7674-E3BB-3844-65EF44974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5" y="935743"/>
            <a:ext cx="10515600" cy="1025879"/>
          </a:xfrm>
        </p:spPr>
        <p:txBody>
          <a:bodyPr anchor="b">
            <a:normAutofit/>
          </a:bodyPr>
          <a:lstStyle/>
          <a:p>
            <a:r>
              <a:rPr lang="en-US" sz="44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Splitting Data &amp; Preparing DataLoaders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5130C874-1B4E-B2CC-770E-14ED297B0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22" y="2099733"/>
            <a:ext cx="10340621" cy="3913140"/>
          </a:xfrm>
        </p:spPr>
        <p:txBody>
          <a:bodyPr>
            <a:normAutofit lnSpcReduction="10000"/>
          </a:bodyPr>
          <a:lstStyle/>
          <a:p>
            <a:pPr marL="228600" indent="0">
              <a:buNone/>
            </a:pPr>
            <a:r>
              <a:rPr lang="en-US" sz="1400" b="1" dirty="0"/>
              <a:t>Objective: </a:t>
            </a:r>
            <a:r>
              <a:rPr lang="en-US" sz="1400" dirty="0"/>
              <a:t>Divide the tokenized dataset into training and testing subsets and create batched loaders for model training and evaluation.</a:t>
            </a:r>
          </a:p>
          <a:p>
            <a:pPr marL="228600" indent="0">
              <a:buNone/>
            </a:pPr>
            <a:endParaRPr lang="en-US" sz="1400" dirty="0">
              <a:solidFill>
                <a:schemeClr val="tx2">
                  <a:alpha val="60000"/>
                </a:schemeClr>
              </a:solidFill>
            </a:endParaRPr>
          </a:p>
          <a:p>
            <a:pPr marL="228600" indent="0">
              <a:buNone/>
            </a:pPr>
            <a:r>
              <a:rPr lang="en-US" sz="1400" b="1" dirty="0"/>
              <a:t>Redefine Dataset Class</a:t>
            </a:r>
            <a:br>
              <a:rPr lang="en-US" sz="1400" dirty="0"/>
            </a:br>
            <a:r>
              <a:rPr lang="en-US" sz="1400" dirty="0"/>
              <a:t>- Ensures encapsulation of text, labels, and tokenization logic.</a:t>
            </a:r>
          </a:p>
          <a:p>
            <a:pPr marL="228600" indent="0">
              <a:buNone/>
            </a:pPr>
            <a:r>
              <a:rPr lang="en-US" sz="1400" b="1" dirty="0"/>
              <a:t>Set Random Seed</a:t>
            </a:r>
            <a:br>
              <a:rPr lang="en-US" sz="1400" dirty="0"/>
            </a:br>
            <a:r>
              <a:rPr lang="en-US" sz="1400" dirty="0"/>
              <a:t>- Guarantees reproducible splits and shuffling.</a:t>
            </a:r>
          </a:p>
          <a:p>
            <a:pPr marL="228600" indent="0">
              <a:buNone/>
            </a:pPr>
            <a:r>
              <a:rPr lang="en-US" sz="1400" b="1" dirty="0"/>
              <a:t>Compute Split Sizes</a:t>
            </a:r>
            <a:br>
              <a:rPr lang="en-US" sz="1400" dirty="0"/>
            </a:br>
            <a:r>
              <a:rPr lang="en-US" sz="1400" dirty="0"/>
              <a:t>- 80% of examples allocated to training, 20% to testing.</a:t>
            </a:r>
          </a:p>
          <a:p>
            <a:pPr marL="228600" indent="0">
              <a:buNone/>
            </a:pPr>
            <a:r>
              <a:rPr lang="en-US" sz="1400" b="1" dirty="0"/>
              <a:t>Perform Train/Test Split</a:t>
            </a:r>
            <a:br>
              <a:rPr lang="en-US" sz="1400" dirty="0"/>
            </a:br>
            <a:r>
              <a:rPr lang="en-US" sz="1400" dirty="0"/>
              <a:t>- Uses PyTorch’s random_split to partition the dataset.</a:t>
            </a:r>
          </a:p>
          <a:p>
            <a:pPr marL="228600" indent="0">
              <a:buNone/>
            </a:pPr>
            <a:r>
              <a:rPr lang="en-US" sz="1400" b="1" dirty="0"/>
              <a:t>Instantiate DataLoaders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b="1" dirty="0"/>
              <a:t>Training loader:</a:t>
            </a:r>
            <a:r>
              <a:rPr lang="en-US" sz="1400" dirty="0"/>
              <a:t> batch size 32, shuffled each epoch</a:t>
            </a:r>
            <a:br>
              <a:rPr lang="en-US" sz="1400" dirty="0"/>
            </a:br>
            <a:r>
              <a:rPr lang="en-US" sz="1400" dirty="0"/>
              <a:t>- </a:t>
            </a:r>
            <a:r>
              <a:rPr lang="en-US" sz="1400" b="1" dirty="0"/>
              <a:t>Test loader:</a:t>
            </a:r>
            <a:r>
              <a:rPr lang="en-US" sz="1400" dirty="0"/>
              <a:t> batch size 32, no shuffling</a:t>
            </a:r>
          </a:p>
          <a:p>
            <a:pPr marL="228600" indent="0">
              <a:buNone/>
            </a:pPr>
            <a:endParaRPr lang="en-US" sz="2000" dirty="0">
              <a:solidFill>
                <a:schemeClr val="tx2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805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E25B7-133B-FA90-A174-FD8007D0A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3B387CB1-1AC8-1175-6839-26BFCC7A1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70AC5-7471-8828-4B68-2DA951A80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5" y="935743"/>
            <a:ext cx="10515600" cy="1025879"/>
          </a:xfrm>
        </p:spPr>
        <p:txBody>
          <a:bodyPr anchor="b">
            <a:normAutofit/>
          </a:bodyPr>
          <a:lstStyle/>
          <a:p>
            <a:r>
              <a:rPr lang="en-US" sz="44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Shallow Neural Network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8EE21D02-2ACE-E3F7-C07A-12AC12FEC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22" y="2099733"/>
            <a:ext cx="10340621" cy="3913140"/>
          </a:xfrm>
        </p:spPr>
        <p:txBody>
          <a:bodyPr>
            <a:normAutofit/>
          </a:bodyPr>
          <a:lstStyle/>
          <a:p>
            <a:pPr marL="228600" indent="0">
              <a:buNone/>
            </a:pPr>
            <a:r>
              <a:rPr lang="en-US" sz="2000" b="1" dirty="0"/>
              <a:t>Architecture: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Input → Linear(128→hidden_dim) → ReLU → Linear(hidden_dim→7)</a:t>
            </a:r>
          </a:p>
          <a:p>
            <a:r>
              <a:rPr lang="en-US" sz="1400" dirty="0"/>
              <a:t>Initial test with hidden_dim = 16 confirmed output shape [1, 7] ​</a:t>
            </a:r>
          </a:p>
          <a:p>
            <a:pPr marL="228600" indent="0">
              <a:buNone/>
            </a:pPr>
            <a:endParaRPr lang="en-US" sz="2000" b="1" dirty="0">
              <a:solidFill>
                <a:schemeClr val="tx2">
                  <a:alpha val="60000"/>
                </a:schemeClr>
              </a:solidFill>
            </a:endParaRPr>
          </a:p>
          <a:p>
            <a:pPr marL="228600" indent="0">
              <a:buNone/>
            </a:pPr>
            <a:r>
              <a:rPr lang="en-US" sz="2000" b="1" dirty="0">
                <a:solidFill>
                  <a:schemeClr val="tx2">
                    <a:alpha val="60000"/>
                  </a:schemeClr>
                </a:solidFill>
              </a:rPr>
              <a:t>Training and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Optimizer: SGD (</a:t>
            </a:r>
            <a:r>
              <a:rPr lang="en-US" sz="1400" dirty="0" err="1"/>
              <a:t>lr</a:t>
            </a:r>
            <a:r>
              <a:rPr lang="en-US" sz="1400" dirty="0"/>
              <a:t> 0.05), Loss: CrossEntropy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10 epochs on train_loader: loss decreased from ~1.81→1.60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Test set: Loss ≈ 1.61, Accuracy ≈ 37%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Confusion matrix revealed class‑dependent performance ​</a:t>
            </a:r>
          </a:p>
          <a:p>
            <a:pPr marL="228600" indent="0">
              <a:buNone/>
            </a:pPr>
            <a:endParaRPr lang="en-US" sz="2000" b="1" dirty="0">
              <a:solidFill>
                <a:schemeClr val="tx2">
                  <a:alpha val="60000"/>
                </a:schemeClr>
              </a:solidFill>
            </a:endParaRPr>
          </a:p>
          <a:p>
            <a:pPr marL="228600" indent="0">
              <a:buNone/>
            </a:pPr>
            <a:endParaRPr lang="en-US" sz="2000" b="1" dirty="0">
              <a:solidFill>
                <a:schemeClr val="tx2">
                  <a:alpha val="60000"/>
                </a:schemeClr>
              </a:solidFill>
            </a:endParaRPr>
          </a:p>
        </p:txBody>
      </p:sp>
      <p:pic>
        <p:nvPicPr>
          <p:cNvPr id="4" name="Picture 3" descr="A diagram of a network&#10;&#10;Description automatically generated">
            <a:extLst>
              <a:ext uri="{FF2B5EF4-FFF2-40B4-BE49-F238E27FC236}">
                <a16:creationId xmlns:a16="http://schemas.microsoft.com/office/drawing/2014/main" id="{B79DBFB9-CB07-51E4-E85F-7B771BA18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0555" y="2479746"/>
            <a:ext cx="4447310" cy="296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876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8571D-7DA6-811B-F29F-8F6F85CA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564F5-64D6-3307-C51A-E75CE10BB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946"/>
            <a:ext cx="5533938" cy="1437410"/>
          </a:xfrm>
        </p:spPr>
        <p:txBody>
          <a:bodyPr anchor="b">
            <a:normAutofit/>
          </a:bodyPr>
          <a:lstStyle/>
          <a:p>
            <a:r>
              <a:rPr lang="en-US" sz="44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Hyperparameter Sweep (Shallow NN)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31590DE3-DA7D-E33A-6011-6E51ED07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0526" y="486860"/>
            <a:ext cx="5914938" cy="1838325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>
                    <a:alpha val="60000"/>
                  </a:schemeClr>
                </a:solidFill>
              </a:rPr>
              <a:t>Hidden_dim ∈ {2,4,8,16,32,64,128,256}</a:t>
            </a:r>
          </a:p>
          <a:p>
            <a:r>
              <a:rPr lang="en-US" sz="1800" dirty="0">
                <a:solidFill>
                  <a:schemeClr val="tx2">
                    <a:alpha val="60000"/>
                  </a:schemeClr>
                </a:solidFill>
              </a:rPr>
              <a:t>Recorded test_loss &amp; test_accuracy for each</a:t>
            </a:r>
          </a:p>
          <a:p>
            <a:r>
              <a:rPr lang="en-US" sz="1800" dirty="0">
                <a:solidFill>
                  <a:schemeClr val="tx2">
                    <a:alpha val="60000"/>
                  </a:schemeClr>
                </a:solidFill>
              </a:rPr>
              <a:t>Best shallow configuration: </a:t>
            </a:r>
            <a:r>
              <a:rPr lang="en-US" sz="1800" b="1" dirty="0">
                <a:solidFill>
                  <a:schemeClr val="tx2">
                    <a:alpha val="60000"/>
                  </a:schemeClr>
                </a:solidFill>
              </a:rPr>
              <a:t>hidden_dim = 256 </a:t>
            </a:r>
            <a:r>
              <a:rPr lang="en-US" sz="1800" dirty="0">
                <a:solidFill>
                  <a:schemeClr val="tx2">
                    <a:alpha val="60000"/>
                  </a:schemeClr>
                </a:solidFill>
              </a:rPr>
              <a:t>→ test_loss - 1.538, </a:t>
            </a:r>
            <a:r>
              <a:rPr lang="en-US" sz="1800" b="1" dirty="0">
                <a:solidFill>
                  <a:schemeClr val="tx2">
                    <a:alpha val="60000"/>
                  </a:schemeClr>
                </a:solidFill>
              </a:rPr>
              <a:t>accuracy - 41.1%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60D1F2-048E-1DCB-FC9E-865CFFD0A5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r="-2" b="17079"/>
          <a:stretch/>
        </p:blipFill>
        <p:spPr>
          <a:xfrm>
            <a:off x="744205" y="2319342"/>
            <a:ext cx="5394565" cy="3735094"/>
          </a:xfrm>
          <a:prstGeom prst="rect">
            <a:avLst/>
          </a:prstGeom>
        </p:spPr>
      </p:pic>
      <p:pic>
        <p:nvPicPr>
          <p:cNvPr id="7" name="Picture 6" descr="A graph of multi-class roc curve&#10;&#10;Description automatically generated">
            <a:extLst>
              <a:ext uri="{FF2B5EF4-FFF2-40B4-BE49-F238E27FC236}">
                <a16:creationId xmlns:a16="http://schemas.microsoft.com/office/drawing/2014/main" id="{66D16ABD-5091-2664-2A80-939309203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469" y="2306705"/>
            <a:ext cx="4714326" cy="376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074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8F89E9-CE2A-F4D7-BB0A-40568AF9F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" name="Rectangle 93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D2419-3561-240D-DD04-F6482996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9741"/>
            <a:ext cx="7639755" cy="856546"/>
          </a:xfrm>
        </p:spPr>
        <p:txBody>
          <a:bodyPr anchor="b">
            <a:normAutofit/>
          </a:bodyPr>
          <a:lstStyle/>
          <a:p>
            <a:r>
              <a:rPr lang="en-US" sz="44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Deep Neural Network Design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451E9295-2B2F-1BA2-8BF2-D512EDAA2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6028"/>
            <a:ext cx="4490155" cy="4285483"/>
          </a:xfrm>
        </p:spPr>
        <p:txBody>
          <a:bodyPr>
            <a:normAutofit fontScale="92500" lnSpcReduction="10000"/>
          </a:bodyPr>
          <a:lstStyle/>
          <a:p>
            <a:pPr marL="22860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>
                    <a:alpha val="60000"/>
                  </a:schemeClr>
                </a:solidFill>
              </a:rPr>
              <a:t>Architecture: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solidFill>
                  <a:schemeClr val="tx2">
                    <a:alpha val="60000"/>
                  </a:schemeClr>
                </a:solidFill>
              </a:rPr>
              <a:t>Configurable depth (num_layers d) and width (hidden_dim p)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solidFill>
                  <a:schemeClr val="tx2">
                    <a:alpha val="60000"/>
                  </a:schemeClr>
                </a:solidFill>
              </a:rPr>
              <a:t>Layers: Input→ReLU→…×(d‑1) hidden layers→Output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solidFill>
                  <a:schemeClr val="tx2">
                    <a:alpha val="60000"/>
                  </a:schemeClr>
                </a:solidFill>
              </a:rPr>
              <a:t>Verified sample architectures for (d=2, p=16) ​</a:t>
            </a:r>
          </a:p>
          <a:p>
            <a:pPr marL="228600" indent="0">
              <a:lnSpc>
                <a:spcPct val="100000"/>
              </a:lnSpc>
              <a:buNone/>
            </a:pPr>
            <a:endParaRPr lang="en-US" sz="1500" b="1" dirty="0">
              <a:solidFill>
                <a:schemeClr val="tx2">
                  <a:alpha val="60000"/>
                </a:schemeClr>
              </a:solidFill>
            </a:endParaRPr>
          </a:p>
          <a:p>
            <a:pPr marL="22860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chemeClr val="tx2">
                    <a:alpha val="60000"/>
                  </a:schemeClr>
                </a:solidFill>
              </a:rPr>
              <a:t>Training and Evaluation with Hyperparameter Tuning: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solidFill>
                  <a:schemeClr val="tx2">
                    <a:alpha val="60000"/>
                  </a:schemeClr>
                </a:solidFill>
              </a:rPr>
              <a:t>Same training regime (SGD lr 0.05, 10 epochs)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solidFill>
                  <a:schemeClr val="tx2">
                    <a:alpha val="60000"/>
                  </a:schemeClr>
                </a:solidFill>
              </a:rPr>
              <a:t>Evaluated metrics: test_loss, accuracy, weighted F1, precision, recall, AUC‑ROC, confusion matrix</a:t>
            </a:r>
          </a:p>
          <a:p>
            <a:pPr>
              <a:lnSpc>
                <a:spcPct val="100000"/>
              </a:lnSpc>
            </a:pPr>
            <a:r>
              <a:rPr lang="en-US" sz="1500" dirty="0">
                <a:solidFill>
                  <a:schemeClr val="tx2">
                    <a:alpha val="60000"/>
                  </a:schemeClr>
                </a:solidFill>
              </a:rPr>
              <a:t>Best depth config (</a:t>
            </a:r>
            <a:r>
              <a:rPr lang="en-US" sz="1500" b="1" dirty="0">
                <a:solidFill>
                  <a:schemeClr val="tx2">
                    <a:alpha val="60000"/>
                  </a:schemeClr>
                </a:solidFill>
              </a:rPr>
              <a:t>d=3, p=128</a:t>
            </a:r>
            <a:r>
              <a:rPr lang="en-US" sz="1500" dirty="0">
                <a:solidFill>
                  <a:schemeClr val="tx2">
                    <a:alpha val="60000"/>
                  </a:schemeClr>
                </a:solidFill>
              </a:rPr>
              <a:t>) achieved test_loss ≈ 1.385, </a:t>
            </a:r>
            <a:r>
              <a:rPr lang="en-US" sz="1500" b="1" dirty="0">
                <a:solidFill>
                  <a:schemeClr val="tx2">
                    <a:alpha val="60000"/>
                  </a:schemeClr>
                </a:solidFill>
              </a:rPr>
              <a:t>accuracy ≈ 47%, </a:t>
            </a:r>
            <a:r>
              <a:rPr lang="en-US" sz="1500" dirty="0">
                <a:solidFill>
                  <a:schemeClr val="tx2">
                    <a:alpha val="60000"/>
                  </a:schemeClr>
                </a:solidFill>
              </a:rPr>
              <a:t>AUC ≈ 0.82</a:t>
            </a:r>
          </a:p>
          <a:p>
            <a:pPr marL="228600" indent="0">
              <a:lnSpc>
                <a:spcPct val="100000"/>
              </a:lnSpc>
              <a:buNone/>
            </a:pPr>
            <a:endParaRPr lang="en-US" sz="1000" b="1" dirty="0">
              <a:solidFill>
                <a:schemeClr val="tx2">
                  <a:alpha val="60000"/>
                </a:schemeClr>
              </a:solidFill>
            </a:endParaRPr>
          </a:p>
          <a:p>
            <a:pPr marL="228600" indent="0">
              <a:lnSpc>
                <a:spcPct val="100000"/>
              </a:lnSpc>
              <a:buNone/>
            </a:pPr>
            <a:endParaRPr lang="en-US" sz="1000" b="1" dirty="0">
              <a:solidFill>
                <a:schemeClr val="tx2">
                  <a:alpha val="60000"/>
                </a:schemeClr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C7098D-BA11-2F51-D177-AE4147339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037081"/>
              </p:ext>
            </p:extLst>
          </p:nvPr>
        </p:nvGraphicFramePr>
        <p:xfrm>
          <a:off x="6039374" y="1479052"/>
          <a:ext cx="5663274" cy="3894346"/>
        </p:xfrm>
        <a:graphic>
          <a:graphicData uri="http://schemas.openxmlformats.org/drawingml/2006/table">
            <a:tbl>
              <a:tblPr firstRow="1" bandRow="1"/>
              <a:tblGrid>
                <a:gridCol w="501860">
                  <a:extLst>
                    <a:ext uri="{9D8B030D-6E8A-4147-A177-3AD203B41FA5}">
                      <a16:colId xmlns:a16="http://schemas.microsoft.com/office/drawing/2014/main" val="4105526223"/>
                    </a:ext>
                  </a:extLst>
                </a:gridCol>
                <a:gridCol w="489296">
                  <a:extLst>
                    <a:ext uri="{9D8B030D-6E8A-4147-A177-3AD203B41FA5}">
                      <a16:colId xmlns:a16="http://schemas.microsoft.com/office/drawing/2014/main" val="3897867115"/>
                    </a:ext>
                  </a:extLst>
                </a:gridCol>
                <a:gridCol w="687190">
                  <a:extLst>
                    <a:ext uri="{9D8B030D-6E8A-4147-A177-3AD203B41FA5}">
                      <a16:colId xmlns:a16="http://schemas.microsoft.com/office/drawing/2014/main" val="3029019662"/>
                    </a:ext>
                  </a:extLst>
                </a:gridCol>
                <a:gridCol w="687190">
                  <a:extLst>
                    <a:ext uri="{9D8B030D-6E8A-4147-A177-3AD203B41FA5}">
                      <a16:colId xmlns:a16="http://schemas.microsoft.com/office/drawing/2014/main" val="127734648"/>
                    </a:ext>
                  </a:extLst>
                </a:gridCol>
                <a:gridCol w="687190">
                  <a:extLst>
                    <a:ext uri="{9D8B030D-6E8A-4147-A177-3AD203B41FA5}">
                      <a16:colId xmlns:a16="http://schemas.microsoft.com/office/drawing/2014/main" val="3475761091"/>
                    </a:ext>
                  </a:extLst>
                </a:gridCol>
                <a:gridCol w="687190">
                  <a:extLst>
                    <a:ext uri="{9D8B030D-6E8A-4147-A177-3AD203B41FA5}">
                      <a16:colId xmlns:a16="http://schemas.microsoft.com/office/drawing/2014/main" val="3058286817"/>
                    </a:ext>
                  </a:extLst>
                </a:gridCol>
                <a:gridCol w="687190">
                  <a:extLst>
                    <a:ext uri="{9D8B030D-6E8A-4147-A177-3AD203B41FA5}">
                      <a16:colId xmlns:a16="http://schemas.microsoft.com/office/drawing/2014/main" val="4292767373"/>
                    </a:ext>
                  </a:extLst>
                </a:gridCol>
                <a:gridCol w="548978">
                  <a:extLst>
                    <a:ext uri="{9D8B030D-6E8A-4147-A177-3AD203B41FA5}">
                      <a16:colId xmlns:a16="http://schemas.microsoft.com/office/drawing/2014/main" val="2457485415"/>
                    </a:ext>
                  </a:extLst>
                </a:gridCol>
                <a:gridCol w="687190">
                  <a:extLst>
                    <a:ext uri="{9D8B030D-6E8A-4147-A177-3AD203B41FA5}">
                      <a16:colId xmlns:a16="http://schemas.microsoft.com/office/drawing/2014/main" val="3089787498"/>
                    </a:ext>
                  </a:extLst>
                </a:gridCol>
              </a:tblGrid>
              <a:tr h="370986">
                <a:tc>
                  <a:txBody>
                    <a:bodyPr/>
                    <a:lstStyle/>
                    <a:p>
                      <a:r>
                        <a:rPr lang="en-US" sz="1000"/>
                        <a:t>Depth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Width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Train Accuracy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Test Loss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Test Accuracy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F1 Score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Precision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Recall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AUC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189669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0.349521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1.611716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0.373500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0.351742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0.351896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0.3735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0.739025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2855477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0.354420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1.599197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0.377143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0.351472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0.355835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0.3771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0.744226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419157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0.356984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1.585793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0.384643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0.359323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0.360091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0.3846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0.749974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897476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128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0.362486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1.569651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0.389786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0.364083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0.368958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0.3898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0.757209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250551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0.345988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1.590924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0.379571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0.353245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0.358187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0.3796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0.749283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622581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0.352195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1.557872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0.395929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0.374493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0.372991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0.3959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0.761711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93322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0.364838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1.486735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0.430143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0.408263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0.412074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0.4301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0.788304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9189737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128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0.378454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1.439733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0.443357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0.412511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0.435914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0.4434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0.809781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758526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0.325725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1.629493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0.359786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0.311045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0.317667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0.3598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0.737624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600322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0.323629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1.600035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0.365786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0.319238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0.328905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0.3658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0.746066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643646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0.350120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1.475127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0.432643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0.421036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0.424490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0.4326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0.788873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987028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92D050"/>
                          </a:solidFill>
                        </a:rPr>
                        <a:t>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92D050"/>
                          </a:solidFill>
                        </a:rPr>
                        <a:t>128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92D050"/>
                          </a:solidFill>
                        </a:rPr>
                        <a:t>0.370586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92D050"/>
                          </a:solidFill>
                        </a:rPr>
                        <a:t>1.384953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92D050"/>
                          </a:solidFill>
                        </a:rPr>
                        <a:t>0.470429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92D050"/>
                          </a:solidFill>
                        </a:rPr>
                        <a:t>0.429236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92D050"/>
                          </a:solidFill>
                        </a:rPr>
                        <a:t>0.443751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rgbClr val="92D050"/>
                          </a:solidFill>
                        </a:rPr>
                        <a:t>0.4704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92D050"/>
                          </a:solidFill>
                        </a:rPr>
                        <a:t>0.817389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870747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FF0000"/>
                          </a:solidFill>
                        </a:rPr>
                        <a:t>16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0.284652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1.645626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FF0000"/>
                          </a:solidFill>
                        </a:rPr>
                        <a:t>0.333643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FF0000"/>
                          </a:solidFill>
                        </a:rPr>
                        <a:t>0.284449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FF0000"/>
                          </a:solidFill>
                        </a:rPr>
                        <a:t>0.271101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FF0000"/>
                          </a:solidFill>
                        </a:rPr>
                        <a:t>0.3336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0.719085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502469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32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0.309262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1.622106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0.355357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0.331326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0.329526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0.3554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0.730978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686393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64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0.326971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1.574592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0.385857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0.342211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0.349761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0.3859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0.756101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043935"/>
                  </a:ext>
                </a:extLst>
              </a:tr>
              <a:tr h="220210">
                <a:tc>
                  <a:txBody>
                    <a:bodyPr/>
                    <a:lstStyle/>
                    <a:p>
                      <a:r>
                        <a:rPr lang="en-US" sz="1000"/>
                        <a:t>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128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0.347734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1.445615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0.457143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0.429707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0.435239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0.4571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0.795600</a:t>
                      </a:r>
                    </a:p>
                  </a:txBody>
                  <a:tcPr marL="33246" marR="33246" marT="16623" marB="1662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427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168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E435F1-4B4D-22E7-642B-B4322FDA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19B36E71-93BD-4984-AC9C-CC9FB9CC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C5AA2-5B29-FA3E-B8BF-040CBA8DF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00051"/>
            <a:ext cx="5257800" cy="1877560"/>
          </a:xfrm>
        </p:spPr>
        <p:txBody>
          <a:bodyPr anchor="ctr">
            <a:normAutofit/>
          </a:bodyPr>
          <a:lstStyle/>
          <a:p>
            <a:r>
              <a:rPr lang="en-US" sz="44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Deep Neural Network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51BF74-D97C-ACD5-8CCE-5696559D6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9181" y="541162"/>
            <a:ext cx="5019675" cy="1877560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2">
                    <a:alpha val="60000"/>
                  </a:schemeClr>
                </a:solidFill>
              </a:rPr>
              <a:t>Plotted one‑vs‑rest ROC curves for all 7 classes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2">
                    <a:alpha val="60000"/>
                  </a:schemeClr>
                </a:solidFill>
              </a:rPr>
              <a:t>Confusion heatmap highlighted per‑class precision/recall trade‑offs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2">
                    <a:alpha val="60000"/>
                  </a:schemeClr>
                </a:solidFill>
              </a:rPr>
              <a:t>Noted strongest performance on “Normal” class, weakest on “Suicidal” </a:t>
            </a:r>
          </a:p>
          <a:p>
            <a:pPr>
              <a:lnSpc>
                <a:spcPct val="100000"/>
              </a:lnSpc>
            </a:pPr>
            <a:endParaRPr lang="en-US" sz="1500" dirty="0">
              <a:solidFill>
                <a:schemeClr val="tx2">
                  <a:alpha val="60000"/>
                </a:schemeClr>
              </a:solidFill>
            </a:endParaRPr>
          </a:p>
        </p:txBody>
      </p:sp>
      <p:pic>
        <p:nvPicPr>
          <p:cNvPr id="9" name="Picture 8" descr="A graph of a curve&#10;&#10;Description automatically generated with medium confidence">
            <a:extLst>
              <a:ext uri="{FF2B5EF4-FFF2-40B4-BE49-F238E27FC236}">
                <a16:creationId xmlns:a16="http://schemas.microsoft.com/office/drawing/2014/main" id="{3ECDEAAA-8B97-E0C1-D1ED-8C7ACA8EA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4" y="2277611"/>
            <a:ext cx="4821661" cy="4039227"/>
          </a:xfrm>
          <a:prstGeom prst="rect">
            <a:avLst/>
          </a:prstGeom>
        </p:spPr>
      </p:pic>
      <p:pic>
        <p:nvPicPr>
          <p:cNvPr id="11" name="Picture 10" descr="A diagram of a heatmap&#10;&#10;Description automatically generated">
            <a:extLst>
              <a:ext uri="{FF2B5EF4-FFF2-40B4-BE49-F238E27FC236}">
                <a16:creationId xmlns:a16="http://schemas.microsoft.com/office/drawing/2014/main" id="{A85C306F-FFF9-5FA6-F940-0C264CD81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396" y="2163573"/>
            <a:ext cx="5216604" cy="452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121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448158-6934-B992-30F1-EFA57235E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42427976-828D-88BC-FC86-888B9E40B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3349D-AD3D-5BB1-4CA2-751ECDD3E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355600"/>
            <a:ext cx="10515600" cy="1025879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Optimization Techniques Explored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04A5A36C-B712-93AB-8F2A-6B54A11C9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489" y="1670755"/>
            <a:ext cx="10515600" cy="4831645"/>
          </a:xfrm>
        </p:spPr>
        <p:txBody>
          <a:bodyPr>
            <a:normAutofit fontScale="77500" lnSpcReduction="20000"/>
          </a:bodyPr>
          <a:lstStyle/>
          <a:p>
            <a:pPr marL="228600" indent="0">
              <a:buNone/>
            </a:pPr>
            <a:r>
              <a:rPr lang="en-US" sz="1700" b="1" dirty="0"/>
              <a:t>Gradient Descent (Full Batch)</a:t>
            </a:r>
          </a:p>
          <a:p>
            <a:r>
              <a:rPr lang="en-US" sz="1700" b="1" dirty="0"/>
              <a:t>Batch Size:</a:t>
            </a:r>
            <a:r>
              <a:rPr lang="en-US" sz="1700" dirty="0"/>
              <a:t> 56 000 (entire training set)</a:t>
            </a:r>
          </a:p>
          <a:p>
            <a:r>
              <a:rPr lang="en-US" sz="1700" b="1" dirty="0"/>
              <a:t>Optimizer:</a:t>
            </a:r>
            <a:r>
              <a:rPr lang="en-US" sz="1700" dirty="0"/>
              <a:t> SGD (no momentum), LR = 0.05, 10 epochs</a:t>
            </a:r>
          </a:p>
          <a:p>
            <a:r>
              <a:rPr lang="en-US" sz="1700" b="1" dirty="0"/>
              <a:t>Observations:</a:t>
            </a:r>
            <a:endParaRPr lang="en-US" sz="17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Training loss barely decreased (from 1.9469 → 1.9463)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Test accuracy only 11.75%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Very long training time (624 s) ​</a:t>
            </a:r>
          </a:p>
          <a:p>
            <a:r>
              <a:rPr lang="en-US" sz="1700" b="1" dirty="0"/>
              <a:t>Conclusion:</a:t>
            </a:r>
            <a:r>
              <a:rPr lang="en-US" sz="1700" dirty="0"/>
              <a:t> Inefficient for large datasets; poor convergence and generalization</a:t>
            </a:r>
          </a:p>
          <a:p>
            <a:pPr marL="228600" indent="0">
              <a:buNone/>
            </a:pPr>
            <a:endParaRPr lang="en-US" sz="2600" b="1" dirty="0">
              <a:solidFill>
                <a:schemeClr val="tx2">
                  <a:alpha val="60000"/>
                </a:schemeClr>
              </a:solidFill>
            </a:endParaRPr>
          </a:p>
          <a:p>
            <a:pPr marL="228600" indent="0">
              <a:buNone/>
            </a:pPr>
            <a:r>
              <a:rPr lang="en-US" sz="1700" b="1" dirty="0"/>
              <a:t>Stochastic Gradient Descent (SGD)</a:t>
            </a:r>
          </a:p>
          <a:p>
            <a:r>
              <a:rPr lang="en-US" sz="1700" b="1" dirty="0"/>
              <a:t>Batch Sizes Tested</a:t>
            </a:r>
            <a:r>
              <a:rPr lang="en-US" sz="1700" dirty="0"/>
              <a:t>: 56,000; 28,000; 14,000; 7,000; 3,500</a:t>
            </a:r>
          </a:p>
          <a:p>
            <a:r>
              <a:rPr lang="en-US" sz="1700" b="1" dirty="0"/>
              <a:t>Common Settings: </a:t>
            </a:r>
            <a:r>
              <a:rPr lang="en-US" sz="1700" dirty="0"/>
              <a:t>SGD (no momentum), LR = 0.05, 10 epochs</a:t>
            </a:r>
          </a:p>
          <a:p>
            <a:r>
              <a:rPr lang="en-US" sz="1700" b="1" dirty="0"/>
              <a:t>Key Trends: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Smaller batches → faster training (592 s → 441 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Test loss steadily decreased (1.9579 → 1.9437)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dirty="0"/>
              <a:t>Accuracy stable (~14%) until batch = 3 500, then jumped to 20.31% ​</a:t>
            </a:r>
          </a:p>
          <a:p>
            <a:r>
              <a:rPr lang="en-US" sz="1700" b="1" dirty="0"/>
              <a:t>Insight</a:t>
            </a:r>
            <a:r>
              <a:rPr lang="en-US" sz="1300" b="1" dirty="0"/>
              <a:t>:</a:t>
            </a:r>
            <a:r>
              <a:rPr lang="en-US" sz="1300" dirty="0"/>
              <a:t> </a:t>
            </a:r>
            <a:r>
              <a:rPr lang="en-US" sz="1700" dirty="0"/>
              <a:t>Mini‑batch updates improve both speed and generalization</a:t>
            </a:r>
          </a:p>
          <a:p>
            <a:pPr marL="228600" indent="0">
              <a:buNone/>
            </a:pPr>
            <a:endParaRPr lang="en-US" sz="1400" b="1" dirty="0"/>
          </a:p>
          <a:p>
            <a:pPr marL="228600" indent="0">
              <a:buNone/>
            </a:pPr>
            <a:endParaRPr lang="en-US" sz="2000" b="1" dirty="0">
              <a:solidFill>
                <a:schemeClr val="tx2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527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520F0C-63B7-0A73-94FF-6858698E5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" name="Rectangle 105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6DCBE8-8D91-F6E5-C6BD-75CDF90A5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18" y="597909"/>
            <a:ext cx="8762999" cy="804859"/>
          </a:xfrm>
        </p:spPr>
        <p:txBody>
          <a:bodyPr anchor="b">
            <a:normAutofit/>
          </a:bodyPr>
          <a:lstStyle/>
          <a:p>
            <a:r>
              <a:rPr lang="en-US" sz="44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Optimization Techniques (cont.)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F9FCD228-3D5B-B3C3-9F7D-8E821EB7C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355" y="1682252"/>
            <a:ext cx="5914938" cy="2986087"/>
          </a:xfrm>
        </p:spPr>
        <p:txBody>
          <a:bodyPr>
            <a:normAutofit/>
          </a:bodyPr>
          <a:lstStyle/>
          <a:p>
            <a:pPr marL="22860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2">
                    <a:alpha val="60000"/>
                  </a:schemeClr>
                </a:solidFill>
              </a:rPr>
              <a:t>SGD + Momentum</a:t>
            </a:r>
          </a:p>
          <a:p>
            <a:pPr marL="22860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2">
                    <a:alpha val="60000"/>
                  </a:schemeClr>
                </a:solidFill>
              </a:rPr>
              <a:t>Batch Sizes: </a:t>
            </a:r>
            <a:r>
              <a:rPr lang="en-US" sz="1400" dirty="0">
                <a:solidFill>
                  <a:schemeClr val="tx2">
                    <a:alpha val="60000"/>
                  </a:schemeClr>
                </a:solidFill>
              </a:rPr>
              <a:t>56000; 28000; 14000; 7000; 3500</a:t>
            </a:r>
          </a:p>
          <a:p>
            <a:pPr marL="22860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2">
                    <a:alpha val="60000"/>
                  </a:schemeClr>
                </a:solidFill>
              </a:rPr>
              <a:t>Optimizer: </a:t>
            </a:r>
            <a:r>
              <a:rPr lang="en-US" sz="1400" dirty="0">
                <a:solidFill>
                  <a:schemeClr val="tx2">
                    <a:alpha val="60000"/>
                  </a:schemeClr>
                </a:solidFill>
              </a:rPr>
              <a:t>SGD with momentum = 0.9, LR = 0.05, 10 epochs</a:t>
            </a:r>
          </a:p>
          <a:p>
            <a:pPr marL="22860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2">
                    <a:alpha val="60000"/>
                  </a:schemeClr>
                </a:solidFill>
              </a:rPr>
              <a:t>Results: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>
                    <a:alpha val="60000"/>
                  </a:schemeClr>
                </a:solidFill>
              </a:rPr>
              <a:t>	Significant accuracy boost, especially at small batches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>
                    <a:alpha val="60000"/>
                  </a:schemeClr>
                </a:solidFill>
              </a:rPr>
              <a:t>	Best (batch = 3500): accuracy 30.49%, loss 1.7198, time 439 s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>
                    <a:alpha val="60000"/>
                  </a:schemeClr>
                </a:solidFill>
              </a:rPr>
              <a:t>	Convergence much faster; model escapes flat minima ​</a:t>
            </a:r>
          </a:p>
          <a:p>
            <a:pPr marL="22860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chemeClr val="tx2">
                    <a:alpha val="60000"/>
                  </a:schemeClr>
                </a:solidFill>
              </a:rPr>
              <a:t>Takeaway: </a:t>
            </a:r>
            <a:r>
              <a:rPr lang="en-US" sz="1400" dirty="0">
                <a:solidFill>
                  <a:schemeClr val="tx2">
                    <a:alpha val="60000"/>
                  </a:schemeClr>
                </a:solidFill>
              </a:rPr>
              <a:t>Momentum accelerates learning and enhances generalization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716EF5-657E-20E6-C930-09E4733BB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922575"/>
              </p:ext>
            </p:extLst>
          </p:nvPr>
        </p:nvGraphicFramePr>
        <p:xfrm>
          <a:off x="6753138" y="2154565"/>
          <a:ext cx="4949507" cy="2041462"/>
        </p:xfrm>
        <a:graphic>
          <a:graphicData uri="http://schemas.openxmlformats.org/drawingml/2006/table">
            <a:tbl>
              <a:tblPr firstRow="1" bandRow="1"/>
              <a:tblGrid>
                <a:gridCol w="1254118">
                  <a:extLst>
                    <a:ext uri="{9D8B030D-6E8A-4147-A177-3AD203B41FA5}">
                      <a16:colId xmlns:a16="http://schemas.microsoft.com/office/drawing/2014/main" val="2202948916"/>
                    </a:ext>
                  </a:extLst>
                </a:gridCol>
                <a:gridCol w="840144">
                  <a:extLst>
                    <a:ext uri="{9D8B030D-6E8A-4147-A177-3AD203B41FA5}">
                      <a16:colId xmlns:a16="http://schemas.microsoft.com/office/drawing/2014/main" val="3084608529"/>
                    </a:ext>
                  </a:extLst>
                </a:gridCol>
                <a:gridCol w="1198315">
                  <a:extLst>
                    <a:ext uri="{9D8B030D-6E8A-4147-A177-3AD203B41FA5}">
                      <a16:colId xmlns:a16="http://schemas.microsoft.com/office/drawing/2014/main" val="2986462399"/>
                    </a:ext>
                  </a:extLst>
                </a:gridCol>
                <a:gridCol w="828465">
                  <a:extLst>
                    <a:ext uri="{9D8B030D-6E8A-4147-A177-3AD203B41FA5}">
                      <a16:colId xmlns:a16="http://schemas.microsoft.com/office/drawing/2014/main" val="3064490916"/>
                    </a:ext>
                  </a:extLst>
                </a:gridCol>
                <a:gridCol w="828465">
                  <a:extLst>
                    <a:ext uri="{9D8B030D-6E8A-4147-A177-3AD203B41FA5}">
                      <a16:colId xmlns:a16="http://schemas.microsoft.com/office/drawing/2014/main" val="64670844"/>
                    </a:ext>
                  </a:extLst>
                </a:gridCol>
              </a:tblGrid>
              <a:tr h="544090">
                <a:tc>
                  <a:txBody>
                    <a:bodyPr/>
                    <a:lstStyle/>
                    <a:p>
                      <a:r>
                        <a:rPr lang="en-US" sz="1500" b="1" kern="1200">
                          <a:gradFill flip="none" rotWithShape="1">
                            <a:gsLst>
                              <a:gs pos="0">
                                <a:schemeClr val="accent5">
                                  <a:alpha val="70000"/>
                                </a:schemeClr>
                              </a:gs>
                              <a:gs pos="100000">
                                <a:schemeClr val="accent1">
                                  <a:alpha val="70000"/>
                                </a:schemeClr>
                              </a:gs>
                            </a:gsLst>
                            <a:lin ang="0" scaled="1"/>
                            <a:tileRect/>
                          </a:gradFill>
                          <a:latin typeface="+mj-lt"/>
                          <a:ea typeface="+mn-ea"/>
                          <a:cs typeface="Angsana New" panose="02020603050405020304" pitchFamily="18" charset="-34"/>
                        </a:rPr>
                        <a:t>Method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500" b="1" kern="1200">
                          <a:gradFill flip="none" rotWithShape="1">
                            <a:gsLst>
                              <a:gs pos="0">
                                <a:schemeClr val="accent5">
                                  <a:alpha val="70000"/>
                                </a:schemeClr>
                              </a:gs>
                              <a:gs pos="100000">
                                <a:schemeClr val="accent1">
                                  <a:alpha val="70000"/>
                                </a:schemeClr>
                              </a:gs>
                            </a:gsLst>
                            <a:lin ang="0" scaled="1"/>
                            <a:tileRect/>
                          </a:gradFill>
                          <a:latin typeface="+mj-lt"/>
                          <a:ea typeface="+mn-ea"/>
                          <a:cs typeface="Angsana New" panose="02020603050405020304" pitchFamily="18" charset="-34"/>
                        </a:rPr>
                        <a:t>Best Batch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500" b="1" kern="1200">
                          <a:gradFill flip="none" rotWithShape="1">
                            <a:gsLst>
                              <a:gs pos="0">
                                <a:schemeClr val="accent5">
                                  <a:alpha val="70000"/>
                                </a:schemeClr>
                              </a:gs>
                              <a:gs pos="100000">
                                <a:schemeClr val="accent1">
                                  <a:alpha val="70000"/>
                                </a:schemeClr>
                              </a:gs>
                            </a:gsLst>
                            <a:lin ang="0" scaled="1"/>
                            <a:tileRect/>
                          </a:gradFill>
                          <a:latin typeface="+mj-lt"/>
                          <a:ea typeface="+mn-ea"/>
                          <a:cs typeface="Angsana New" panose="02020603050405020304" pitchFamily="18" charset="-34"/>
                        </a:rPr>
                        <a:t>Accuracy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500" b="1" kern="1200">
                          <a:gradFill flip="none" rotWithShape="1">
                            <a:gsLst>
                              <a:gs pos="0">
                                <a:schemeClr val="accent5">
                                  <a:alpha val="70000"/>
                                </a:schemeClr>
                              </a:gs>
                              <a:gs pos="100000">
                                <a:schemeClr val="accent1">
                                  <a:alpha val="70000"/>
                                </a:schemeClr>
                              </a:gs>
                            </a:gsLst>
                            <a:lin ang="0" scaled="1"/>
                            <a:tileRect/>
                          </a:gradFill>
                          <a:latin typeface="+mj-lt"/>
                          <a:ea typeface="+mn-ea"/>
                          <a:cs typeface="Angsana New" panose="02020603050405020304" pitchFamily="18" charset="-34"/>
                        </a:rPr>
                        <a:t>Loss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500" b="1" kern="1200">
                          <a:gradFill flip="none" rotWithShape="1">
                            <a:gsLst>
                              <a:gs pos="0">
                                <a:schemeClr val="accent5">
                                  <a:alpha val="70000"/>
                                </a:schemeClr>
                              </a:gs>
                              <a:gs pos="100000">
                                <a:schemeClr val="accent1">
                                  <a:alpha val="70000"/>
                                </a:schemeClr>
                              </a:gs>
                            </a:gsLst>
                            <a:lin ang="0" scaled="1"/>
                            <a:tileRect/>
                          </a:gradFill>
                          <a:latin typeface="+mj-lt"/>
                          <a:ea typeface="+mn-ea"/>
                          <a:cs typeface="Angsana New" panose="02020603050405020304" pitchFamily="18" charset="-34"/>
                        </a:rPr>
                        <a:t>Time (s)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365753"/>
                  </a:ext>
                </a:extLst>
              </a:tr>
              <a:tr h="499124">
                <a:tc>
                  <a:txBody>
                    <a:bodyPr/>
                    <a:lstStyle/>
                    <a:p>
                      <a:r>
                        <a:rPr lang="en-US" sz="1300"/>
                        <a:t>Full‑batch GD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56000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11.75%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1.9470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624.04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142241"/>
                  </a:ext>
                </a:extLst>
              </a:tr>
              <a:tr h="499124">
                <a:tc>
                  <a:txBody>
                    <a:bodyPr/>
                    <a:lstStyle/>
                    <a:p>
                      <a:r>
                        <a:rPr lang="en-US" sz="1300"/>
                        <a:t>SGD (no momentum)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3500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20.31%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1.9437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440.87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525545"/>
                  </a:ext>
                </a:extLst>
              </a:tr>
              <a:tr h="499124">
                <a:tc>
                  <a:txBody>
                    <a:bodyPr/>
                    <a:lstStyle/>
                    <a:p>
                      <a:r>
                        <a:rPr lang="en-US" sz="1300" dirty="0"/>
                        <a:t>SGD + Momentum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3500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30.49%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1.7198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439.00</a:t>
                      </a:r>
                    </a:p>
                  </a:txBody>
                  <a:tcPr marL="67449" marR="67449" marT="33725" marB="337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7001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41E1A1D-6C65-AFC6-FE17-D6AA71FDF1BC}"/>
              </a:ext>
            </a:extLst>
          </p:cNvPr>
          <p:cNvSpPr txBox="1"/>
          <p:nvPr/>
        </p:nvSpPr>
        <p:spPr>
          <a:xfrm>
            <a:off x="6753138" y="1692900"/>
            <a:ext cx="32636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alpha val="60000"/>
                  </a:schemeClr>
                </a:solidFill>
              </a:rPr>
              <a:t>Comparison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29637E-D840-A016-7230-C05B1FD5ABF2}"/>
              </a:ext>
            </a:extLst>
          </p:cNvPr>
          <p:cNvSpPr txBox="1"/>
          <p:nvPr/>
        </p:nvSpPr>
        <p:spPr>
          <a:xfrm>
            <a:off x="713583" y="5064074"/>
            <a:ext cx="50551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tx2">
                    <a:alpha val="60000"/>
                  </a:schemeClr>
                </a:solidFill>
              </a:rPr>
              <a:t>Key Takeaways:</a:t>
            </a:r>
          </a:p>
          <a:p>
            <a:endParaRPr lang="en-US" sz="1400" b="1" dirty="0">
              <a:solidFill>
                <a:schemeClr val="tx2">
                  <a:alpha val="60000"/>
                </a:schemeClr>
              </a:solidFill>
            </a:endParaRPr>
          </a:p>
          <a:p>
            <a:r>
              <a:rPr lang="en-US" sz="1400" b="1" dirty="0">
                <a:solidFill>
                  <a:schemeClr val="tx2">
                    <a:alpha val="60000"/>
                  </a:schemeClr>
                </a:solidFill>
              </a:rPr>
              <a:t>Gradient Descent: </a:t>
            </a:r>
            <a:r>
              <a:rPr lang="en-US" sz="1400" dirty="0">
                <a:solidFill>
                  <a:schemeClr val="tx2">
                    <a:alpha val="60000"/>
                  </a:schemeClr>
                </a:solidFill>
              </a:rPr>
              <a:t>slow, low accuracy</a:t>
            </a:r>
          </a:p>
          <a:p>
            <a:r>
              <a:rPr lang="en-US" sz="1400" b="1" dirty="0">
                <a:solidFill>
                  <a:schemeClr val="tx2">
                    <a:alpha val="60000"/>
                  </a:schemeClr>
                </a:solidFill>
              </a:rPr>
              <a:t>Mini‑Batch SGD: </a:t>
            </a:r>
            <a:r>
              <a:rPr lang="en-US" sz="1400" dirty="0">
                <a:solidFill>
                  <a:schemeClr val="tx2">
                    <a:alpha val="60000"/>
                  </a:schemeClr>
                </a:solidFill>
              </a:rPr>
              <a:t>faster, moderate gains</a:t>
            </a:r>
          </a:p>
          <a:p>
            <a:r>
              <a:rPr lang="en-US" sz="1400" b="1" dirty="0">
                <a:solidFill>
                  <a:schemeClr val="tx2">
                    <a:alpha val="60000"/>
                  </a:schemeClr>
                </a:solidFill>
              </a:rPr>
              <a:t>Momentum + Mini‑Batch: </a:t>
            </a:r>
            <a:r>
              <a:rPr lang="en-US" sz="1400" dirty="0">
                <a:solidFill>
                  <a:schemeClr val="tx2">
                    <a:alpha val="60000"/>
                  </a:schemeClr>
                </a:solidFill>
              </a:rPr>
              <a:t>best efficiency &amp; generalization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157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C1B5C-40B8-CE14-9263-DA66E9FFB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7CF7606C-72F3-B8E0-3A95-D48D32298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95F8C1-5C88-3AD3-1678-CD1061CCB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355600"/>
            <a:ext cx="10515600" cy="1025879"/>
          </a:xfrm>
        </p:spPr>
        <p:txBody>
          <a:bodyPr anchor="b">
            <a:normAutofit/>
          </a:bodyPr>
          <a:lstStyle/>
          <a:p>
            <a:r>
              <a:rPr lang="en-US" sz="44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Advanced Techniques: CNN Model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9ED2BBBF-5EF2-C32C-58DF-52DCE8ED1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489" y="1670755"/>
            <a:ext cx="3826932" cy="3510845"/>
          </a:xfrm>
        </p:spPr>
        <p:txBody>
          <a:bodyPr>
            <a:normAutofit/>
          </a:bodyPr>
          <a:lstStyle/>
          <a:p>
            <a:pPr marL="228600" indent="0">
              <a:buNone/>
            </a:pPr>
            <a:r>
              <a:rPr lang="en-US" sz="1600" b="1" dirty="0"/>
              <a:t>Model:  Custom CNN Classifier</a:t>
            </a:r>
            <a:br>
              <a:rPr lang="en-US" sz="1600" b="1" dirty="0"/>
            </a:br>
            <a:br>
              <a:rPr lang="en-US" sz="1600" b="1" dirty="0"/>
            </a:br>
            <a:r>
              <a:rPr lang="en-US" sz="1400" b="1" dirty="0"/>
              <a:t>Training Details:</a:t>
            </a:r>
          </a:p>
          <a:p>
            <a:r>
              <a:rPr lang="en-US" sz="1400" b="1" dirty="0"/>
              <a:t>Epochs: 10</a:t>
            </a:r>
            <a:endParaRPr lang="en-US" sz="1400" dirty="0"/>
          </a:p>
          <a:p>
            <a:r>
              <a:rPr lang="en-US" sz="1400" b="1" dirty="0"/>
              <a:t>Loss Trend: </a:t>
            </a:r>
            <a:r>
              <a:rPr lang="en-US" sz="1400" dirty="0"/>
              <a:t>Decreased from 1.8352 (Epoch 1) to 1.7523 (Epoch 10)</a:t>
            </a:r>
          </a:p>
          <a:p>
            <a:pPr marL="228600" indent="0">
              <a:buNone/>
            </a:pPr>
            <a:br>
              <a:rPr lang="en-US" sz="1400" b="1" dirty="0"/>
            </a:br>
            <a:r>
              <a:rPr lang="en-US" sz="1400" b="1" dirty="0"/>
              <a:t>Test Results:</a:t>
            </a:r>
          </a:p>
          <a:p>
            <a:r>
              <a:rPr lang="en-US" sz="1400" dirty="0"/>
              <a:t>Accuracy: 32.8%</a:t>
            </a:r>
          </a:p>
          <a:p>
            <a:r>
              <a:rPr lang="en-US" sz="1400" dirty="0"/>
              <a:t>Weighted F1 Score: 28.9%</a:t>
            </a:r>
          </a:p>
        </p:txBody>
      </p:sp>
      <p:pic>
        <p:nvPicPr>
          <p:cNvPr id="4" name="Picture 3" descr="A screenshot of a graph&#10;&#10;Description automatically generated">
            <a:extLst>
              <a:ext uri="{FF2B5EF4-FFF2-40B4-BE49-F238E27FC236}">
                <a16:creationId xmlns:a16="http://schemas.microsoft.com/office/drawing/2014/main" id="{21717FDD-67D0-6B6D-012D-0B1F86E46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732" y="1670755"/>
            <a:ext cx="6639862" cy="391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459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B9CE7D-C736-8FC2-327C-83D42F223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191AF634-4975-8016-3588-9498D76AA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383C5-4666-AA05-9EA6-E43A13F5F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355600"/>
            <a:ext cx="10515600" cy="1025879"/>
          </a:xfrm>
        </p:spPr>
        <p:txBody>
          <a:bodyPr anchor="b">
            <a:normAutofit/>
          </a:bodyPr>
          <a:lstStyle/>
          <a:p>
            <a:r>
              <a:rPr lang="en-US" sz="44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CNN Classifier - Confusion Matrix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BA4AF638-C12C-D80D-C282-2B888329F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043" y="2098323"/>
            <a:ext cx="3562157" cy="3060699"/>
          </a:xfrm>
        </p:spPr>
        <p:txBody>
          <a:bodyPr>
            <a:normAutofit/>
          </a:bodyPr>
          <a:lstStyle/>
          <a:p>
            <a:pPr marL="228600" indent="0">
              <a:buNone/>
            </a:pPr>
            <a:r>
              <a:rPr lang="en-US" sz="1800" b="1" dirty="0"/>
              <a:t>Key Observations:</a:t>
            </a:r>
          </a:p>
          <a:p>
            <a:r>
              <a:rPr lang="en-US" sz="1600" dirty="0"/>
              <a:t>Poor performance across classes (e.g., only 144 correct for Anxiety out of 1,975)</a:t>
            </a:r>
          </a:p>
          <a:p>
            <a:r>
              <a:rPr lang="en-US" sz="1600" dirty="0"/>
              <a:t>High misclassification rates (e.g., 517 Anxiety samples predicted as Normal)</a:t>
            </a:r>
          </a:p>
          <a:p>
            <a:pPr marL="228600" indent="0">
              <a:buNone/>
            </a:pPr>
            <a:endParaRPr lang="en-US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7CCA54-C08A-38AC-3377-F8C03E035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891" y="1407883"/>
            <a:ext cx="6960385" cy="538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83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DD0C1-1D04-87B7-28A2-562F9F588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C4BA38E-BAF1-A4E1-2342-FD33DEF01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EC9B90-6967-029D-64EF-4D6C05B5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355600"/>
            <a:ext cx="10515600" cy="1025879"/>
          </a:xfrm>
        </p:spPr>
        <p:txBody>
          <a:bodyPr anchor="b">
            <a:normAutofit/>
          </a:bodyPr>
          <a:lstStyle/>
          <a:p>
            <a:r>
              <a:rPr lang="en-US" sz="44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Advanced Techniques: BERT Model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0F7AA1F9-4343-7A93-EB35-103DFA0EA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489" y="1670755"/>
            <a:ext cx="3826932" cy="3510845"/>
          </a:xfrm>
        </p:spPr>
        <p:txBody>
          <a:bodyPr>
            <a:normAutofit/>
          </a:bodyPr>
          <a:lstStyle/>
          <a:p>
            <a:pPr marL="228600" indent="0">
              <a:buNone/>
            </a:pPr>
            <a:r>
              <a:rPr lang="en-US" sz="1600" b="1" dirty="0"/>
              <a:t>Model:  BERT (bert-base-uncased)</a:t>
            </a:r>
            <a:br>
              <a:rPr lang="en-US" sz="1600" b="1" dirty="0"/>
            </a:br>
            <a:br>
              <a:rPr lang="en-US" sz="1600" b="1" dirty="0"/>
            </a:br>
            <a:r>
              <a:rPr lang="en-US" sz="1400" b="1" dirty="0"/>
              <a:t>Training Details:</a:t>
            </a:r>
          </a:p>
          <a:p>
            <a:r>
              <a:rPr lang="en-US" sz="1400" b="1" dirty="0"/>
              <a:t>Epochs: </a:t>
            </a:r>
            <a:r>
              <a:rPr lang="en-US" sz="1400" dirty="0"/>
              <a:t>4</a:t>
            </a:r>
          </a:p>
          <a:p>
            <a:r>
              <a:rPr lang="en-US" sz="1400" b="1" dirty="0"/>
              <a:t>Batch Size: </a:t>
            </a:r>
            <a:r>
              <a:rPr lang="en-US" sz="1400" dirty="0"/>
              <a:t>16</a:t>
            </a:r>
          </a:p>
          <a:p>
            <a:pPr marL="228600" indent="0">
              <a:buNone/>
            </a:pPr>
            <a:br>
              <a:rPr lang="en-US" sz="1400" b="1" dirty="0"/>
            </a:br>
            <a:r>
              <a:rPr lang="en-US" sz="1400" b="1" dirty="0"/>
              <a:t>Test Results:</a:t>
            </a:r>
          </a:p>
          <a:p>
            <a:r>
              <a:rPr lang="en-US" sz="1400" dirty="0"/>
              <a:t>Accuracy: 94.5%</a:t>
            </a:r>
          </a:p>
          <a:p>
            <a:r>
              <a:rPr lang="en-US" sz="1400" dirty="0"/>
              <a:t>Weighted F1 Score: 94.5%</a:t>
            </a:r>
          </a:p>
          <a:p>
            <a:r>
              <a:rPr lang="en-US" sz="1400" dirty="0"/>
              <a:t>Evaluation Loss: 0.294</a:t>
            </a:r>
          </a:p>
        </p:txBody>
      </p:sp>
      <p:pic>
        <p:nvPicPr>
          <p:cNvPr id="7" name="Picture 6" descr="A screenshot of a table&#10;&#10;Description automatically generated">
            <a:extLst>
              <a:ext uri="{FF2B5EF4-FFF2-40B4-BE49-F238E27FC236}">
                <a16:creationId xmlns:a16="http://schemas.microsoft.com/office/drawing/2014/main" id="{A8055E68-9035-42BA-5E90-C9957370E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421" y="1670755"/>
            <a:ext cx="7284669" cy="370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20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0A2C4-6184-0145-CE9E-ACCAD29AA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BE9B8EE2-D5A6-6F21-B2D5-E17943D4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F13C8-0FD1-A37D-8BF9-FCD53EA64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355600"/>
            <a:ext cx="10515600" cy="1025879"/>
          </a:xfrm>
        </p:spPr>
        <p:txBody>
          <a:bodyPr anchor="b">
            <a:normAutofit/>
          </a:bodyPr>
          <a:lstStyle/>
          <a:p>
            <a:r>
              <a:rPr lang="en-US" sz="4400" dirty="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BERT - Confusion Matrix</a:t>
            </a:r>
          </a:p>
        </p:txBody>
      </p:sp>
      <p:sp>
        <p:nvSpPr>
          <p:cNvPr id="74" name="Content Placeholder 2">
            <a:extLst>
              <a:ext uri="{FF2B5EF4-FFF2-40B4-BE49-F238E27FC236}">
                <a16:creationId xmlns:a16="http://schemas.microsoft.com/office/drawing/2014/main" id="{C27E9D9E-21FE-2756-C2E8-03E73D6DF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332" y="1737080"/>
            <a:ext cx="4278489" cy="1833158"/>
          </a:xfrm>
        </p:spPr>
        <p:txBody>
          <a:bodyPr>
            <a:normAutofit/>
          </a:bodyPr>
          <a:lstStyle/>
          <a:p>
            <a:pPr marL="228600" indent="0">
              <a:buNone/>
            </a:pPr>
            <a:r>
              <a:rPr lang="en-US" sz="1600" b="1" dirty="0"/>
              <a:t>Key Observations:</a:t>
            </a:r>
          </a:p>
          <a:p>
            <a:r>
              <a:rPr lang="en-US" sz="1400" dirty="0"/>
              <a:t>Strong performance for Personality Disorder (near-perfect classification)</a:t>
            </a:r>
          </a:p>
          <a:p>
            <a:r>
              <a:rPr lang="en-US" sz="1400" dirty="0"/>
              <a:t>Depression and Suicidal have more misclassifications (e.g., 255 Depression samples predicted as Suicidal)</a:t>
            </a:r>
          </a:p>
          <a:p>
            <a:pPr marL="228600" indent="0">
              <a:buNone/>
            </a:pPr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F956F2-BA9B-3E07-CB91-0EE0E09EC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331" y="1381479"/>
            <a:ext cx="6172337" cy="5120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5DE1FB-2A52-0224-7329-40DD3B6A1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56" y="3626190"/>
            <a:ext cx="4035265" cy="317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396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1822C-ED37-5CF3-AD29-22E954FED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2CD38-143A-7870-B3D5-58E4515AE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1280"/>
            <a:ext cx="10515600" cy="3998306"/>
          </a:xfrm>
        </p:spPr>
        <p:txBody>
          <a:bodyPr>
            <a:normAutofit/>
          </a:bodyPr>
          <a:lstStyle/>
          <a:p>
            <a:r>
              <a:rPr lang="en-US" sz="2400" dirty="0"/>
              <a:t>BERT outperformed CNN significantly (94.5% vs. 32.8% accuracy).</a:t>
            </a:r>
          </a:p>
          <a:p>
            <a:r>
              <a:rPr lang="en-US" sz="2400" dirty="0"/>
              <a:t>Balancing the dataset improved model fairness across classes.</a:t>
            </a:r>
          </a:p>
          <a:p>
            <a:r>
              <a:rPr lang="en-US" sz="2400" dirty="0"/>
              <a:t>SGD with Momentum and tuned batch size (3,500) was the most effective optimizer.</a:t>
            </a:r>
            <a:br>
              <a:rPr lang="en-US" sz="2400" dirty="0"/>
            </a:br>
            <a:endParaRPr lang="en-US" sz="2400" dirty="0"/>
          </a:p>
          <a:p>
            <a:r>
              <a:rPr lang="en-US" sz="2000" b="1" dirty="0"/>
              <a:t>Future Work: </a:t>
            </a:r>
            <a:r>
              <a:rPr lang="en-US" sz="2400" dirty="0"/>
              <a:t>Explore hybrid models or fine-tune CNN architecture for better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1053224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2478C-EC9E-DE8F-D9E2-540290AE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8A6D-AD5F-8CF7-3231-CCA18BF3D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A22C9-C96E-9574-DBD4-0D18986A4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1280"/>
            <a:ext cx="10515600" cy="3998306"/>
          </a:xfrm>
        </p:spPr>
        <p:txBody>
          <a:bodyPr>
            <a:normAutofit/>
          </a:bodyPr>
          <a:lstStyle/>
          <a:p>
            <a:r>
              <a:rPr lang="en-US" sz="2000" dirty="0"/>
              <a:t>Dataset link - </a:t>
            </a:r>
            <a:r>
              <a:rPr lang="en-US" sz="2000" dirty="0">
                <a:hlinkClick r:id="rId2"/>
              </a:rPr>
              <a:t>Sentiment Analysis for Mental Health Dataset</a:t>
            </a:r>
            <a:endParaRPr lang="en-US" sz="2000" dirty="0"/>
          </a:p>
          <a:p>
            <a:r>
              <a:rPr lang="en-US" sz="2000" dirty="0"/>
              <a:t>Google </a:t>
            </a:r>
            <a:r>
              <a:rPr lang="en-US" sz="2000" dirty="0" err="1"/>
              <a:t>Colab</a:t>
            </a:r>
            <a:r>
              <a:rPr lang="en-US" sz="2000" dirty="0"/>
              <a:t> – </a:t>
            </a:r>
            <a:r>
              <a:rPr lang="en-US" sz="2000" dirty="0">
                <a:hlinkClick r:id="rId3"/>
              </a:rPr>
              <a:t>sp25_DsoDusKan_FPA05.ipynb</a:t>
            </a:r>
            <a:endParaRPr lang="en-US" sz="2000" dirty="0"/>
          </a:p>
          <a:p>
            <a:r>
              <a:rPr lang="en-US" sz="2000" dirty="0"/>
              <a:t>About BERT - </a:t>
            </a:r>
            <a:r>
              <a:rPr lang="en-US" sz="2000" dirty="0">
                <a:hlinkClick r:id="rId4"/>
              </a:rPr>
              <a:t>https://www.geeksforgeeks.org/explanation-of-bert-model-nlp/</a:t>
            </a:r>
            <a:endParaRPr lang="en-US" sz="2000" dirty="0"/>
          </a:p>
          <a:p>
            <a:r>
              <a:rPr lang="en-US" sz="2000" dirty="0"/>
              <a:t>Presentation video link - </a:t>
            </a:r>
            <a:r>
              <a:rPr lang="en-US" sz="2000" dirty="0">
                <a:hlinkClick r:id="rId5"/>
              </a:rPr>
              <a:t>Click here for video of this presentation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22441434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Custom 54">
      <a:dk1>
        <a:sysClr val="windowText" lastClr="000000"/>
      </a:dk1>
      <a:lt1>
        <a:sysClr val="window" lastClr="FFFFFF"/>
      </a:lt1>
      <a:dk2>
        <a:srgbClr val="201449"/>
      </a:dk2>
      <a:lt2>
        <a:srgbClr val="EEEEEE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8477FE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</TotalTime>
  <Words>1388</Words>
  <Application>Microsoft Macintosh PowerPoint</Application>
  <PresentationFormat>Widescreen</PresentationFormat>
  <Paragraphs>312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Avenir Next LT Pro</vt:lpstr>
      <vt:lpstr>Sabon Next LT</vt:lpstr>
      <vt:lpstr>Wingdings</vt:lpstr>
      <vt:lpstr>LuminousVTI</vt:lpstr>
      <vt:lpstr>Deep Learning for Mental Health Classification</vt:lpstr>
      <vt:lpstr>Introduction to the Dataset </vt:lpstr>
      <vt:lpstr>Dataset Distribution (Before Balancing) </vt:lpstr>
      <vt:lpstr>Dataset Distribution (After Balancing) </vt:lpstr>
      <vt:lpstr> Data Preprocessing</vt:lpstr>
      <vt:lpstr>Convert Dataset into Tensor Format</vt:lpstr>
      <vt:lpstr>Splitting Data &amp; Preparing DataLoaders</vt:lpstr>
      <vt:lpstr>Shallow Neural Network</vt:lpstr>
      <vt:lpstr>Hyperparameter Sweep (Shallow NN)</vt:lpstr>
      <vt:lpstr>Deep Neural Network Design</vt:lpstr>
      <vt:lpstr>Deep Neural Network Design</vt:lpstr>
      <vt:lpstr>Optimization Techniques Explored</vt:lpstr>
      <vt:lpstr>Optimization Techniques (cont.)</vt:lpstr>
      <vt:lpstr>Advanced Techniques: CNN Model</vt:lpstr>
      <vt:lpstr>CNN Classifier - Confusion Matrix</vt:lpstr>
      <vt:lpstr>Advanced Techniques: BERT Model</vt:lpstr>
      <vt:lpstr>BERT - Confusion Matrix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Kanumala, Ajay</dc:creator>
  <cp:lastModifiedBy>Kanumala, Ajay</cp:lastModifiedBy>
  <cp:revision>2</cp:revision>
  <dcterms:created xsi:type="dcterms:W3CDTF">2025-05-04T20:27:00Z</dcterms:created>
  <dcterms:modified xsi:type="dcterms:W3CDTF">2025-05-05T04:06:53Z</dcterms:modified>
</cp:coreProperties>
</file>